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76" r:id="rId3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57200" y="-457200"/>
            <a:ext cx="4114800" cy="411480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0" y="4114800"/>
            <a:ext cx="3657600" cy="3657600"/>
          </a:xfrm>
          <a:prstGeom prst="rect">
            <a:avLst/>
          </a:prstGeom>
          <a:solidFill>
            <a:srgbClr val="0D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280160" y="1005840"/>
            <a:ext cx="9628632" cy="4937760"/>
          </a:xfrm>
          <a:prstGeom prst="rect">
            <a:avLst/>
          </a:prstGeom>
          <a:solidFill>
            <a:srgbClr val="161B22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80160" y="1005840"/>
            <a:ext cx="91440" cy="4937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0" y="1371600"/>
            <a:ext cx="8686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Calibri"/>
              </a:rPr>
              <a:t>STUDENT GRADE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74320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 dirty="0">
                <a:solidFill>
                  <a:srgbClr val="22D3EE"/>
                </a:solidFill>
                <a:latin typeface="Calibri"/>
              </a:rPr>
              <a:t>CALCULATOR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3794760"/>
            <a:ext cx="5422392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45920" y="3944704"/>
            <a:ext cx="8869680" cy="64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25"/>
              </a:lnSpc>
              <a:buNone/>
            </a:pPr>
            <a:r>
              <a:rPr lang="en-US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Author: Syed </a:t>
            </a:r>
            <a:r>
              <a:rPr lang="en-US" b="1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Nokhaiz</a:t>
            </a:r>
            <a:r>
              <a:rPr lang="en-US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 Al Hassan</a:t>
            </a:r>
          </a:p>
          <a:p>
            <a:pPr algn="ctr">
              <a:lnSpc>
                <a:spcPts val="1425"/>
              </a:lnSpc>
              <a:buNone/>
            </a:pPr>
            <a:endParaRPr lang="en-US" b="1" dirty="0">
              <a:solidFill>
                <a:srgbClr val="79C0FF"/>
              </a:solidFill>
              <a:latin typeface="Consolas" panose="020B0609020204030204" pitchFamily="49" charset="0"/>
            </a:endParaRPr>
          </a:p>
          <a:p>
            <a:pPr algn="ctr">
              <a:lnSpc>
                <a:spcPts val="1425"/>
              </a:lnSpc>
              <a:buNone/>
            </a:pPr>
            <a:r>
              <a:rPr lang="en-US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Mobile App Developer</a:t>
            </a:r>
            <a:r>
              <a:rPr lang="en-US" b="1" dirty="0">
                <a:solidFill>
                  <a:srgbClr val="79C0FF"/>
                </a:solidFill>
                <a:latin typeface="Consolas" panose="020B0609020204030204" pitchFamily="49" charset="0"/>
              </a:rPr>
              <a:t> | </a:t>
            </a:r>
            <a:r>
              <a:rPr lang="en-US" b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University of Gujrat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743200" y="4709160"/>
            <a:ext cx="1645920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0" y="472744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C++17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4709160"/>
            <a:ext cx="1097280" cy="3657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0560" y="472744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OOP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4709160"/>
            <a:ext cx="164592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0" y="472744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SOLID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79" y="4709160"/>
            <a:ext cx="1645920" cy="3657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79" y="472744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Design Patterns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25296"/>
            <a:ext cx="12188952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11731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48872" y="201168"/>
            <a:ext cx="10972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731752" y="201168"/>
            <a:ext cx="109728" cy="10972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11457432" cy="52120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" cy="5212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55448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</a:pPr>
            <a:r>
              <a:rPr sz="1900">
                <a:solidFill>
                  <a:srgbClr val="22D3EE"/>
                </a:solidFill>
                <a:latin typeface="Calibri"/>
              </a:rPr>
              <a:t>▸  </a:t>
            </a:r>
            <a:r>
              <a:rPr sz="2000">
                <a:solidFill>
                  <a:srgbClr val="E2E8F0"/>
                </a:solidFill>
                <a:latin typeface="Calibri"/>
              </a:rPr>
              <a:t>Comprehensive system for managing student grades and academic records</a:t>
            </a:r>
          </a:p>
          <a:p>
            <a:pPr>
              <a:spcBef>
                <a:spcPts val="2000"/>
              </a:spcBef>
            </a:pPr>
            <a:r>
              <a:rPr sz="1900">
                <a:solidFill>
                  <a:srgbClr val="22D3EE"/>
                </a:solidFill>
                <a:latin typeface="Calibri"/>
              </a:rPr>
              <a:t>▸  </a:t>
            </a:r>
            <a:r>
              <a:rPr sz="2000">
                <a:solidFill>
                  <a:srgbClr val="E2E8F0"/>
                </a:solidFill>
                <a:latin typeface="Calibri"/>
              </a:rPr>
              <a:t>Calculates GPA and CGPA using the University of Gujrat grading scale</a:t>
            </a:r>
          </a:p>
          <a:p>
            <a:pPr>
              <a:spcBef>
                <a:spcPts val="2000"/>
              </a:spcBef>
            </a:pPr>
            <a:r>
              <a:rPr sz="1900">
                <a:solidFill>
                  <a:srgbClr val="22D3EE"/>
                </a:solidFill>
                <a:latin typeface="Calibri"/>
              </a:rPr>
              <a:t>▸  </a:t>
            </a:r>
            <a:r>
              <a:rPr sz="2000">
                <a:solidFill>
                  <a:srgbClr val="E2E8F0"/>
                </a:solidFill>
                <a:latin typeface="Calibri"/>
              </a:rPr>
              <a:t>Supports multiple assessment components: Assignments, Exams, Projects</a:t>
            </a:r>
          </a:p>
          <a:p>
            <a:pPr>
              <a:spcBef>
                <a:spcPts val="2000"/>
              </a:spcBef>
            </a:pPr>
            <a:r>
              <a:rPr sz="1900">
                <a:solidFill>
                  <a:srgbClr val="22D3EE"/>
                </a:solidFill>
                <a:latin typeface="Calibri"/>
              </a:rPr>
              <a:t>▸  </a:t>
            </a:r>
            <a:r>
              <a:rPr sz="2000">
                <a:solidFill>
                  <a:srgbClr val="E2E8F0"/>
                </a:solidFill>
                <a:latin typeface="Calibri"/>
              </a:rPr>
              <a:t>Generates professional academic reports and transcripts</a:t>
            </a:r>
          </a:p>
          <a:p>
            <a:pPr>
              <a:spcBef>
                <a:spcPts val="2000"/>
              </a:spcBef>
            </a:pPr>
            <a:r>
              <a:rPr sz="1900">
                <a:solidFill>
                  <a:srgbClr val="22D3EE"/>
                </a:solidFill>
                <a:latin typeface="Calibri"/>
              </a:rPr>
              <a:t>▸  </a:t>
            </a:r>
            <a:r>
              <a:rPr sz="2000">
                <a:solidFill>
                  <a:srgbClr val="E2E8F0"/>
                </a:solidFill>
                <a:latin typeface="Calibri"/>
              </a:rPr>
              <a:t>Implements professional software engineering practices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234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25296"/>
            <a:ext cx="12188952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11731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KEY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48872" y="201168"/>
            <a:ext cx="109728" cy="10972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731752" y="201168"/>
            <a:ext cx="109728" cy="10972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5577840" cy="52120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605272" cy="52120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371600"/>
            <a:ext cx="73152" cy="52120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73152" cy="52120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155448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</a:pPr>
            <a:r>
              <a:rPr sz="1600" b="1">
                <a:solidFill>
                  <a:srgbClr val="10B981"/>
                </a:solidFill>
                <a:latin typeface="Calibri"/>
              </a:rPr>
              <a:t>✓  </a:t>
            </a:r>
            <a:r>
              <a:rPr sz="1600">
                <a:solidFill>
                  <a:srgbClr val="E2E8F0"/>
                </a:solidFill>
                <a:latin typeface="Calibri"/>
              </a:rPr>
              <a:t>Student Management — Add, update, delete student records</a:t>
            </a:r>
          </a:p>
          <a:p>
            <a:pPr>
              <a:spcBef>
                <a:spcPts val="1600"/>
              </a:spcBef>
            </a:pPr>
            <a:r>
              <a:rPr sz="1600" b="1">
                <a:solidFill>
                  <a:srgbClr val="10B981"/>
                </a:solidFill>
                <a:latin typeface="Calibri"/>
              </a:rPr>
              <a:t>✓  </a:t>
            </a:r>
            <a:r>
              <a:rPr sz="1600">
                <a:solidFill>
                  <a:srgbClr val="E2E8F0"/>
                </a:solidFill>
                <a:latin typeface="Calibri"/>
              </a:rPr>
              <a:t>Course Management — Enroll in up to 10 courses per semester</a:t>
            </a:r>
          </a:p>
          <a:p>
            <a:pPr>
              <a:spcBef>
                <a:spcPts val="1600"/>
              </a:spcBef>
            </a:pPr>
            <a:r>
              <a:rPr sz="1600" b="1">
                <a:solidFill>
                  <a:srgbClr val="10B981"/>
                </a:solidFill>
                <a:latin typeface="Calibri"/>
              </a:rPr>
              <a:t>✓  </a:t>
            </a:r>
            <a:r>
              <a:rPr sz="1600">
                <a:solidFill>
                  <a:srgbClr val="E2E8F0"/>
                </a:solidFill>
                <a:latin typeface="Calibri"/>
              </a:rPr>
              <a:t>Grade Calculation — Automatic GPA/CGPA computation</a:t>
            </a:r>
          </a:p>
          <a:p>
            <a:pPr>
              <a:spcBef>
                <a:spcPts val="1600"/>
              </a:spcBef>
            </a:pPr>
            <a:r>
              <a:rPr sz="1600" b="1">
                <a:solidFill>
                  <a:srgbClr val="10B981"/>
                </a:solidFill>
                <a:latin typeface="Calibri"/>
              </a:rPr>
              <a:t>✓  </a:t>
            </a:r>
            <a:r>
              <a:rPr sz="1600">
                <a:solidFill>
                  <a:srgbClr val="E2E8F0"/>
                </a:solidFill>
                <a:latin typeface="Calibri"/>
              </a:rPr>
              <a:t>Report Generation — Transcripts, grade reports, progress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55448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</a:pPr>
            <a:r>
              <a:rPr sz="1600" b="1">
                <a:solidFill>
                  <a:srgbClr val="10B981"/>
                </a:solidFill>
                <a:latin typeface="Calibri"/>
              </a:rPr>
              <a:t>✓  </a:t>
            </a:r>
            <a:r>
              <a:rPr sz="1600">
                <a:solidFill>
                  <a:srgbClr val="E2E8F0"/>
                </a:solidFill>
                <a:latin typeface="Calibri"/>
              </a:rPr>
              <a:t>Data Persistence — Save/load with backup functionality</a:t>
            </a:r>
          </a:p>
          <a:p>
            <a:pPr>
              <a:spcBef>
                <a:spcPts val="1600"/>
              </a:spcBef>
            </a:pPr>
            <a:r>
              <a:rPr sz="1600" b="1">
                <a:solidFill>
                  <a:srgbClr val="10B981"/>
                </a:solidFill>
                <a:latin typeface="Calibri"/>
              </a:rPr>
              <a:t>✓  </a:t>
            </a:r>
            <a:r>
              <a:rPr sz="1600">
                <a:solidFill>
                  <a:srgbClr val="E2E8F0"/>
                </a:solidFill>
                <a:latin typeface="Calibri"/>
              </a:rPr>
              <a:t>Grade Notifications — Alerts for low and high performance</a:t>
            </a:r>
          </a:p>
          <a:p>
            <a:pPr>
              <a:spcBef>
                <a:spcPts val="1600"/>
              </a:spcBef>
            </a:pPr>
            <a:r>
              <a:rPr sz="1600" b="1">
                <a:solidFill>
                  <a:srgbClr val="10B981"/>
                </a:solidFill>
                <a:latin typeface="Calibri"/>
              </a:rPr>
              <a:t>✓  </a:t>
            </a:r>
            <a:r>
              <a:rPr sz="1600">
                <a:solidFill>
                  <a:srgbClr val="E2E8F0"/>
                </a:solidFill>
                <a:latin typeface="Calibri"/>
              </a:rPr>
              <a:t>UOG CGPA Calculator — Instant GPA/CGPA from letter grades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234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25296"/>
            <a:ext cx="12188952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11731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UNIVERSITY OF GUJRAT GRADING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48872" y="201168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731752" y="201168"/>
            <a:ext cx="109728" cy="10972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371600" cy="475488"/>
          </a:xfrm>
          <a:prstGeom prst="rect">
            <a:avLst/>
          </a:prstGeom>
          <a:solidFill>
            <a:srgbClr val="4F1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Grade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1371600"/>
            <a:ext cx="2286000" cy="475488"/>
          </a:xfrm>
          <a:prstGeom prst="rect">
            <a:avLst/>
          </a:prstGeom>
          <a:solidFill>
            <a:srgbClr val="4F1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20240" y="1444752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Score Range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371600"/>
            <a:ext cx="1828800" cy="475488"/>
          </a:xfrm>
          <a:prstGeom prst="rect">
            <a:avLst/>
          </a:prstGeom>
          <a:solidFill>
            <a:srgbClr val="4F1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06240" y="1444752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GPA Points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371600"/>
            <a:ext cx="4114800" cy="475488"/>
          </a:xfrm>
          <a:prstGeom prst="rect">
            <a:avLst/>
          </a:prstGeom>
          <a:solidFill>
            <a:srgbClr val="4F1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35040" y="1444752"/>
            <a:ext cx="4023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Remarks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865376"/>
            <a:ext cx="9875520" cy="4754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1865376"/>
            <a:ext cx="73152" cy="4754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1938528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  <a:latin typeface="Calibri"/>
              </a:rPr>
              <a:t>A+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1938528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84.5+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1938528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Calibri"/>
              </a:rPr>
              <a:t>4.00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1938528"/>
            <a:ext cx="4206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  <a:latin typeface="Calibri"/>
              </a:rPr>
              <a:t>Exceptional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359152"/>
            <a:ext cx="9875520" cy="475488"/>
          </a:xfrm>
          <a:prstGeom prst="rect">
            <a:avLst/>
          </a:prstGeom>
          <a:solidFill>
            <a:srgbClr val="1C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2359152"/>
            <a:ext cx="73152" cy="4754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2432304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  <a:latin typeface="Calibri"/>
              </a:rPr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2432304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79.5–84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2432304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Calibri"/>
              </a:rPr>
              <a:t>3.70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2432304"/>
            <a:ext cx="4206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  <a:latin typeface="Calibri"/>
              </a:rPr>
              <a:t>Outstanding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852928"/>
            <a:ext cx="9875520" cy="4754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57200" y="2852928"/>
            <a:ext cx="73152" cy="47548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2926080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D3EE"/>
                </a:solidFill>
                <a:latin typeface="Calibri"/>
              </a:rPr>
              <a:t>B+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292608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74.5–79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2926080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Calibri"/>
              </a:rPr>
              <a:t>3.40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2926080"/>
            <a:ext cx="4206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  <a:latin typeface="Calibri"/>
              </a:rPr>
              <a:t>Excellent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346704"/>
            <a:ext cx="9875520" cy="475488"/>
          </a:xfrm>
          <a:prstGeom prst="rect">
            <a:avLst/>
          </a:prstGeom>
          <a:solidFill>
            <a:srgbClr val="1C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3346704"/>
            <a:ext cx="73152" cy="47548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" y="3419856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D3EE"/>
                </a:solidFill>
                <a:latin typeface="Calibri"/>
              </a:rPr>
              <a:t>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419856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69.5–74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0" y="3419856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Calibri"/>
              </a:rPr>
              <a:t>3.00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0" y="3419856"/>
            <a:ext cx="4206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  <a:latin typeface="Calibri"/>
              </a:rPr>
              <a:t>Very Good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3840480"/>
            <a:ext cx="9875520" cy="4754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57200" y="3840480"/>
            <a:ext cx="73152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" y="3913632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Calibri"/>
              </a:rPr>
              <a:t>B-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3913632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64.5–69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6240" y="3913632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Calibri"/>
              </a:rPr>
              <a:t>2.50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3913632"/>
            <a:ext cx="4206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  <a:latin typeface="Calibri"/>
              </a:rPr>
              <a:t>Good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334256"/>
            <a:ext cx="9875520" cy="475488"/>
          </a:xfrm>
          <a:prstGeom prst="rect">
            <a:avLst/>
          </a:prstGeom>
          <a:solidFill>
            <a:srgbClr val="1C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57200" y="4334256"/>
            <a:ext cx="73152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0080" y="4407408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Calibri"/>
              </a:rPr>
              <a:t>C+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20240" y="4407408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59.5–64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06240" y="4407408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Calibri"/>
              </a:rPr>
              <a:t>2.00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0" y="4407408"/>
            <a:ext cx="4206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  <a:latin typeface="Calibri"/>
              </a:rPr>
              <a:t>Average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4828032"/>
            <a:ext cx="9875520" cy="4754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57200" y="4828032"/>
            <a:ext cx="73152" cy="47548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0080" y="4901184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BBF24"/>
                </a:solidFill>
                <a:latin typeface="Calibri"/>
              </a:rPr>
              <a:t>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20240" y="4901184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54.5–59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06240" y="4901184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Calibri"/>
              </a:rPr>
              <a:t>1.50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35040" y="4901184"/>
            <a:ext cx="4206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  <a:latin typeface="Calibri"/>
              </a:rPr>
              <a:t>Satisfactory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5321808"/>
            <a:ext cx="9875520" cy="475488"/>
          </a:xfrm>
          <a:prstGeom prst="rect">
            <a:avLst/>
          </a:prstGeom>
          <a:solidFill>
            <a:srgbClr val="1C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457200" y="5321808"/>
            <a:ext cx="73152" cy="47548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40080" y="5394960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97316"/>
                </a:solidFill>
                <a:latin typeface="Calibri"/>
              </a:rPr>
              <a:t>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920240" y="539496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49.5–54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06240" y="5394960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Calibri"/>
              </a:rPr>
              <a:t>1.00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35040" y="5394960"/>
            <a:ext cx="4206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  <a:latin typeface="Calibri"/>
              </a:rPr>
              <a:t>Pass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5815584"/>
            <a:ext cx="9875520" cy="4754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457200" y="5815584"/>
            <a:ext cx="73152" cy="47548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40080" y="5888736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C4899"/>
                </a:solidFill>
                <a:latin typeface="Calibri"/>
              </a:rPr>
              <a:t>F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920240" y="5888736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Below 49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06240" y="5888736"/>
            <a:ext cx="1645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Calibri"/>
              </a:rPr>
              <a:t>0.00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035040" y="5888736"/>
            <a:ext cx="4206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  <a:latin typeface="Calibri"/>
              </a:rPr>
              <a:t>Fail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25296"/>
            <a:ext cx="12188952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11731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OOP CONCEPTS DEMONSTRATED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48872" y="201168"/>
            <a:ext cx="10972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731752" y="201168"/>
            <a:ext cx="109728" cy="10972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557784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" cy="1463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C3AED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4630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Classes and Objects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116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  <a:latin typeface="Calibri"/>
              </a:rPr>
              <a:t>6 main classes implementing the entire system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108960"/>
            <a:ext cx="557784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3108960"/>
            <a:ext cx="73152" cy="14630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2004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2D3EE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2004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Encapsulation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7490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  <a:latin typeface="Calibri"/>
              </a:rPr>
              <a:t>Private data with public accessor methods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846320"/>
            <a:ext cx="557784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4846320"/>
            <a:ext cx="73152" cy="1463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49377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0B981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9377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Inheritance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4864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  <a:latin typeface="Calibri"/>
              </a:rPr>
              <a:t>Report hierarchy with polymorphic behavior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371600"/>
            <a:ext cx="557784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09360" y="1371600"/>
            <a:ext cx="73152" cy="14630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BBF24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14630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Polymorphism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20116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  <a:latin typeface="Calibri"/>
              </a:rPr>
              <a:t>Virtual functions for flexible implementations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3108960"/>
            <a:ext cx="557784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309360" y="3108960"/>
            <a:ext cx="73152" cy="14630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92240" y="32004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C4899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2004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Abstraction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7490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  <a:latin typeface="Calibri"/>
              </a:rPr>
              <a:t>Abstract base classes defining interfaces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4846320"/>
            <a:ext cx="557784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309360" y="4846320"/>
            <a:ext cx="73152" cy="14630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92240" y="49377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97316"/>
                </a:solidFill>
                <a:latin typeface="Calibr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9377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Constructors &amp; Destructors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54864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  <a:latin typeface="Calibri"/>
              </a:rPr>
              <a:t>Proper object initialization/cleanup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234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25296"/>
            <a:ext cx="12188952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11731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DESIGN PATTERNS USED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48872" y="201168"/>
            <a:ext cx="109728" cy="10972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731752" y="201168"/>
            <a:ext cx="109728" cy="10972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2103120" cy="4389120"/>
          </a:xfrm>
          <a:prstGeom prst="rect">
            <a:avLst/>
          </a:prstGeom>
          <a:solidFill>
            <a:srgbClr val="161B22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210312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C3AED"/>
                </a:solidFill>
                <a:latin typeface="Calibri"/>
              </a:rPr>
              <a:t>SINGLETON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286000"/>
            <a:ext cx="1554480" cy="1905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2468880"/>
            <a:ext cx="188366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GradeCalculator — single instance throughout the app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1371600"/>
            <a:ext cx="2103120" cy="4389120"/>
          </a:xfrm>
          <a:prstGeom prst="rect">
            <a:avLst/>
          </a:prstGeom>
          <a:solidFill>
            <a:srgbClr val="161B22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0" y="1371600"/>
            <a:ext cx="210312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34640" y="15544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2D3EE"/>
                </a:solidFill>
                <a:latin typeface="Calibri"/>
              </a:rPr>
              <a:t>STRATEGY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2286000"/>
            <a:ext cx="1554480" cy="190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52928" y="2468880"/>
            <a:ext cx="188366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Multiple grading algorithms (Standard, Adjusted)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1371600"/>
            <a:ext cx="2103120" cy="4389120"/>
          </a:xfrm>
          <a:prstGeom prst="rect">
            <a:avLst/>
          </a:prstGeom>
          <a:solidFill>
            <a:srgbClr val="161B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120640" y="1371600"/>
            <a:ext cx="21031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12080" y="15544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  <a:latin typeface="Calibri"/>
              </a:rPr>
              <a:t>FACTORY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94960" y="2286000"/>
            <a:ext cx="1554480" cy="190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30368" y="2468880"/>
            <a:ext cx="188366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ReportGenerator creates different report types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80" y="1371600"/>
            <a:ext cx="2103120" cy="4389120"/>
          </a:xfrm>
          <a:prstGeom prst="rect">
            <a:avLst/>
          </a:prstGeom>
          <a:solidFill>
            <a:srgbClr val="161B22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498080" y="1371600"/>
            <a:ext cx="2103120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89520" y="15544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BBF24"/>
                </a:solidFill>
                <a:latin typeface="Calibri"/>
              </a:rPr>
              <a:t>OBSERVER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2286000"/>
            <a:ext cx="1554480" cy="1905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07808" y="2468880"/>
            <a:ext cx="188366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Grade notifications and performance alerts system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75520" y="1371600"/>
            <a:ext cx="2103120" cy="4389120"/>
          </a:xfrm>
          <a:prstGeom prst="rect">
            <a:avLst/>
          </a:prstGeom>
          <a:solidFill>
            <a:srgbClr val="161B22"/>
          </a:solidFill>
          <a:ln w="1524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875520" y="1371600"/>
            <a:ext cx="2103120" cy="7315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966960" y="15544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C4899"/>
                </a:solidFill>
                <a:latin typeface="Calibri"/>
              </a:rPr>
              <a:t>FACADE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149840" y="2286000"/>
            <a:ext cx="1554480" cy="1905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985248" y="2468880"/>
            <a:ext cx="188366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ReportManager simplifies complex report operations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234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25296"/>
            <a:ext cx="12188952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11731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SOLID PRINCIPLES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48872" y="201168"/>
            <a:ext cx="109728" cy="10972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731752" y="201168"/>
            <a:ext cx="109728" cy="10972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11457432" cy="960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731520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554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463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Single Responsibility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18745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  <a:latin typeface="Calibri"/>
              </a:rPr>
              <a:t>Each class has one reason to change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423160"/>
            <a:ext cx="11457432" cy="960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2423160"/>
            <a:ext cx="73152" cy="9601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2423160"/>
            <a:ext cx="731520" cy="9601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2606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514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Open / Closed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29260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  <a:latin typeface="Calibri"/>
              </a:rPr>
              <a:t>Open for extension, closed for modification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474720"/>
            <a:ext cx="11457432" cy="960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3474720"/>
            <a:ext cx="73152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3474720"/>
            <a:ext cx="731520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36576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566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Liskov Substitution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39776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  <a:latin typeface="Calibri"/>
              </a:rPr>
              <a:t>Derived classes can replace base classes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526280"/>
            <a:ext cx="11457432" cy="960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65760" y="4526280"/>
            <a:ext cx="73152" cy="9601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4526280"/>
            <a:ext cx="731520" cy="9601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47091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6177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Interface Segregation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50292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  <a:latin typeface="Calibri"/>
              </a:rPr>
              <a:t>Segregated, client-specific interfaces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577840"/>
            <a:ext cx="11457432" cy="960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65760" y="5577840"/>
            <a:ext cx="73152" cy="9601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57200" y="5577840"/>
            <a:ext cx="731520" cy="9601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2920" y="57607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5880" y="56692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Dependency Inversion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60807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  <a:latin typeface="Calibri"/>
              </a:rPr>
              <a:t>Depend on abstractions, not concrete classes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234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25296"/>
            <a:ext cx="12188952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11731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CLASS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48872" y="201168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731752" y="201168"/>
            <a:ext cx="109728" cy="10972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5394960" cy="1508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539496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371600"/>
            <a:ext cx="73152" cy="15087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5087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D3EE"/>
                </a:solidFill>
                <a:latin typeface="Calibri"/>
              </a:rPr>
              <a:t>Course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1168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Manages individual course data and grade calculations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5394960" cy="1508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539496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1371600"/>
            <a:ext cx="73152" cy="1508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15087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7C3AED"/>
                </a:solidFill>
                <a:latin typeface="Calibri"/>
              </a:rPr>
              <a:t>Student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01168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Contains multiple courses, calculates GPA/CGPA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108960"/>
            <a:ext cx="5394960" cy="1508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3108960"/>
            <a:ext cx="5394960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3108960"/>
            <a:ext cx="73152" cy="15087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24612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BBF24"/>
                </a:solidFill>
                <a:latin typeface="Calibri"/>
              </a:rPr>
              <a:t>GradeCalculator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74904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Singleton — centralized grade calculation logic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108960"/>
            <a:ext cx="5394960" cy="1508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09360" y="3108960"/>
            <a:ext cx="53949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09360" y="3108960"/>
            <a:ext cx="73152" cy="1508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0" y="324612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0B981"/>
                </a:solidFill>
                <a:latin typeface="Calibri"/>
              </a:rPr>
              <a:t>ReportGenerator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74904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Factory — creates various academic report types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846320"/>
            <a:ext cx="5394960" cy="1508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65760" y="4846320"/>
            <a:ext cx="5394960" cy="7315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65760" y="4846320"/>
            <a:ext cx="73152" cy="15087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49834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C4899"/>
                </a:solidFill>
                <a:latin typeface="Calibri"/>
              </a:rPr>
              <a:t>GradeObserver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48640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Observer — handles grade notifications and alerts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4846320"/>
            <a:ext cx="5394960" cy="1508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309360" y="4846320"/>
            <a:ext cx="539496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309360" y="4846320"/>
            <a:ext cx="73152" cy="15087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92240" y="49834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97316"/>
                </a:solidFill>
                <a:latin typeface="Calibri"/>
              </a:rPr>
              <a:t>FileManager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48640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Handles data persistence and CSV backup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25296"/>
            <a:ext cx="12188952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11731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ASSESSMENT COMPONENT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48872" y="201168"/>
            <a:ext cx="10972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731752" y="201168"/>
            <a:ext cx="109728" cy="10972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11457432" cy="1280160"/>
          </a:xfrm>
          <a:prstGeom prst="rect">
            <a:avLst/>
          </a:prstGeom>
          <a:solidFill>
            <a:srgbClr val="4F17B8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2D3EE"/>
                </a:solidFill>
                <a:latin typeface="Calibri"/>
              </a:rPr>
              <a:t>Total Score  =  (Assignment × 20%)  +  (Midterm × 20%)  +  (Final Exam × 40%)  +  (Project × 20%)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834640"/>
            <a:ext cx="265176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2834640"/>
            <a:ext cx="265176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3017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  <a:latin typeface="Calibri"/>
              </a:rPr>
              <a:t>Assignment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747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85 marks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8404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  <a:latin typeface="Calibri"/>
              </a:rPr>
              <a:t>× 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2976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17.0 pts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2834640"/>
            <a:ext cx="265176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00400" y="2834640"/>
            <a:ext cx="265176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37560" y="3017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D3EE"/>
                </a:solidFill>
                <a:latin typeface="Calibri"/>
              </a:rPr>
              <a:t>Midterm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34747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78 marks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38404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  <a:latin typeface="Calibri"/>
              </a:rPr>
              <a:t>× 20%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42976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15.6 pts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2834640"/>
            <a:ext cx="265176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035040" y="2834640"/>
            <a:ext cx="26517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72200" y="3017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Calibri"/>
              </a:rPr>
              <a:t>Final Exam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34747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92 marks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38404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  <a:latin typeface="Calibri"/>
              </a:rPr>
              <a:t>× 40%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42976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36.8 pts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69680" y="2834640"/>
            <a:ext cx="265176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869680" y="2834640"/>
            <a:ext cx="2651760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006840" y="3017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BBF24"/>
                </a:solidFill>
                <a:latin typeface="Calibri"/>
              </a:rPr>
              <a:t>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34747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88 marks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38404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  <a:latin typeface="Calibri"/>
              </a:rPr>
              <a:t>× 20%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42976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17.6 pts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577840"/>
            <a:ext cx="11457432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Total: 87 marks  →  Grade A  (GPA 3.70)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234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25296"/>
            <a:ext cx="12188952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11731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SEMESTER &amp; CUMULATIVE GPA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48872" y="201168"/>
            <a:ext cx="109728" cy="10972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731752" y="201168"/>
            <a:ext cx="109728" cy="10972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11457432" cy="1005840"/>
          </a:xfrm>
          <a:prstGeom prst="rect">
            <a:avLst/>
          </a:prstGeom>
          <a:solidFill>
            <a:srgbClr val="1C2433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" cy="10058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481328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2D3EE"/>
                </a:solidFill>
                <a:latin typeface="Calibri"/>
              </a:rPr>
              <a:t>Semester GPA  =  Σ (Course GPA × Credit Hours)  /  Total Credit Hours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14600"/>
            <a:ext cx="11457432" cy="1005840"/>
          </a:xfrm>
          <a:prstGeom prst="rect">
            <a:avLst/>
          </a:prstGeom>
          <a:solidFill>
            <a:srgbClr val="1C2433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2514600"/>
            <a:ext cx="73152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624328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C3AED"/>
                </a:solidFill>
                <a:latin typeface="Calibri"/>
              </a:rPr>
              <a:t>CGPA  =  (Previous CGPA × Previous Credits  +  New Grade Points)  /  Total Credits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03320"/>
            <a:ext cx="11457432" cy="2834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794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BBF24"/>
                </a:solidFill>
                <a:latin typeface="Calibri"/>
              </a:rPr>
              <a:t>Worked 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206240"/>
            <a:ext cx="1127455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</a:pPr>
            <a:r>
              <a:rPr sz="1600">
                <a:solidFill>
                  <a:srgbClr val="10B981"/>
                </a:solidFill>
                <a:latin typeface="Calibri"/>
              </a:rPr>
              <a:t>▸  </a:t>
            </a:r>
            <a:r>
              <a:rPr sz="1700">
                <a:solidFill>
                  <a:srgbClr val="E2E8F0"/>
                </a:solidFill>
                <a:latin typeface="Calibri"/>
              </a:rPr>
              <a:t>Previous Semester: CGPA 3.50,  42 credits  =  147.0 grade points</a:t>
            </a:r>
          </a:p>
          <a:p>
            <a:pPr>
              <a:spcBef>
                <a:spcPts val="1600"/>
              </a:spcBef>
            </a:pPr>
            <a:r>
              <a:rPr sz="1600">
                <a:solidFill>
                  <a:srgbClr val="10B981"/>
                </a:solidFill>
                <a:latin typeface="Calibri"/>
              </a:rPr>
              <a:t>▸  </a:t>
            </a:r>
            <a:r>
              <a:rPr sz="1700">
                <a:solidFill>
                  <a:srgbClr val="E2E8F0"/>
                </a:solidFill>
                <a:latin typeface="Calibri"/>
              </a:rPr>
              <a:t>Current Semester:  GPA 3.70,   36 credits  =  133.2 grade points</a:t>
            </a:r>
          </a:p>
          <a:p>
            <a:pPr>
              <a:spcBef>
                <a:spcPts val="1600"/>
              </a:spcBef>
            </a:pPr>
            <a:r>
              <a:rPr sz="1600">
                <a:solidFill>
                  <a:srgbClr val="10B981"/>
                </a:solidFill>
                <a:latin typeface="Calibri"/>
              </a:rPr>
              <a:t>▸  </a:t>
            </a:r>
            <a:r>
              <a:rPr sz="1700">
                <a:solidFill>
                  <a:srgbClr val="E2E8F0"/>
                </a:solidFill>
                <a:latin typeface="Calibri"/>
              </a:rPr>
              <a:t>Updated CGPA  =  (147.0 + 133.2) / (42 + 36)  =  280.2 / 78  =  3.59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2344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25296"/>
            <a:ext cx="12188952" cy="381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11731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UOG CGPA CALCULATOR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48872" y="201168"/>
            <a:ext cx="109728" cy="10972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731752" y="201168"/>
            <a:ext cx="109728" cy="10972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11457432" cy="685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Standalone Calculator  —  Accessible from Main Menu (Option 5)  —  No student record required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94560"/>
            <a:ext cx="5394960" cy="4389120"/>
          </a:xfrm>
          <a:prstGeom prst="rect">
            <a:avLst/>
          </a:prstGeom>
          <a:solidFill>
            <a:srgbClr val="161B22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2194560"/>
            <a:ext cx="73152" cy="43891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331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D3EE"/>
                </a:solidFill>
                <a:latin typeface="Calibri"/>
              </a:rPr>
              <a:t>What you enter: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432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300">
                <a:solidFill>
                  <a:srgbClr val="22D3EE"/>
                </a:solidFill>
                <a:latin typeface="Calibri"/>
              </a:rPr>
              <a:t>▸  </a:t>
            </a:r>
            <a:r>
              <a:rPr sz="1400">
                <a:solidFill>
                  <a:srgbClr val="E2E8F0"/>
                </a:solidFill>
                <a:latin typeface="Calibri"/>
              </a:rPr>
              <a:t>Current CGPA + completed credit hours (optional for 1st semester)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22D3EE"/>
                </a:solidFill>
                <a:latin typeface="Calibri"/>
              </a:rPr>
              <a:t>▸  </a:t>
            </a:r>
            <a:r>
              <a:rPr sz="1400">
                <a:solidFill>
                  <a:srgbClr val="E2E8F0"/>
                </a:solidFill>
                <a:latin typeface="Calibri"/>
              </a:rPr>
              <a:t>Number of courses this semester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22D3EE"/>
                </a:solidFill>
                <a:latin typeface="Calibri"/>
              </a:rPr>
              <a:t>▸  </a:t>
            </a:r>
            <a:r>
              <a:rPr sz="1400">
                <a:solidFill>
                  <a:srgbClr val="E2E8F0"/>
                </a:solidFill>
                <a:latin typeface="Calibri"/>
              </a:rPr>
              <a:t>For each course: name, letter grade, credit hours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194560"/>
            <a:ext cx="5696712" cy="4389120"/>
          </a:xfrm>
          <a:prstGeom prst="rect">
            <a:avLst/>
          </a:prstGeom>
          <a:solidFill>
            <a:srgbClr val="161B2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26480" y="2194560"/>
            <a:ext cx="73152" cy="4389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2331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Calibri"/>
              </a:rPr>
              <a:t>What you get: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74320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1300">
                <a:solidFill>
                  <a:srgbClr val="10B981"/>
                </a:solidFill>
                <a:latin typeface="Calibri"/>
              </a:rPr>
              <a:t>▸  </a:t>
            </a:r>
            <a:r>
              <a:rPr sz="1400">
                <a:solidFill>
                  <a:srgbClr val="E2E8F0"/>
                </a:solidFill>
                <a:latin typeface="Calibri"/>
              </a:rPr>
              <a:t>Grade points auto-filled from UOG grading scale</a:t>
            </a:r>
          </a:p>
          <a:p>
            <a:pPr>
              <a:spcBef>
                <a:spcPts val="1200"/>
              </a:spcBef>
            </a:pPr>
            <a:r>
              <a:rPr sz="1300">
                <a:solidFill>
                  <a:srgbClr val="10B981"/>
                </a:solidFill>
                <a:latin typeface="Calibri"/>
              </a:rPr>
              <a:t>▸  </a:t>
            </a:r>
            <a:r>
              <a:rPr sz="1400">
                <a:solidFill>
                  <a:srgbClr val="E2E8F0"/>
                </a:solidFill>
                <a:latin typeface="Calibri"/>
              </a:rPr>
              <a:t>Per-course contribution (Grade pts × Credits)</a:t>
            </a:r>
          </a:p>
          <a:p>
            <a:pPr>
              <a:spcBef>
                <a:spcPts val="1200"/>
              </a:spcBef>
            </a:pPr>
            <a:r>
              <a:rPr sz="1300">
                <a:solidFill>
                  <a:srgbClr val="10B981"/>
                </a:solidFill>
                <a:latin typeface="Calibri"/>
              </a:rPr>
              <a:t>▸  </a:t>
            </a:r>
            <a:r>
              <a:rPr sz="1400">
                <a:solidFill>
                  <a:srgbClr val="E2E8F0"/>
                </a:solidFill>
                <a:latin typeface="Calibri"/>
              </a:rPr>
              <a:t>Summary table of all courses</a:t>
            </a:r>
          </a:p>
          <a:p>
            <a:pPr>
              <a:spcBef>
                <a:spcPts val="1200"/>
              </a:spcBef>
            </a:pPr>
            <a:r>
              <a:rPr sz="1300">
                <a:solidFill>
                  <a:srgbClr val="10B981"/>
                </a:solidFill>
                <a:latin typeface="Calibri"/>
              </a:rPr>
              <a:t>▸  </a:t>
            </a:r>
            <a:r>
              <a:rPr sz="1400">
                <a:solidFill>
                  <a:srgbClr val="E2E8F0"/>
                </a:solidFill>
                <a:latin typeface="Calibri"/>
              </a:rPr>
              <a:t>Semester GPA calculation</a:t>
            </a:r>
          </a:p>
          <a:p>
            <a:pPr>
              <a:spcBef>
                <a:spcPts val="1200"/>
              </a:spcBef>
            </a:pPr>
            <a:r>
              <a:rPr sz="1300">
                <a:solidFill>
                  <a:srgbClr val="10B981"/>
                </a:solidFill>
                <a:latin typeface="Calibri"/>
              </a:rPr>
              <a:t>▸  </a:t>
            </a:r>
            <a:r>
              <a:rPr sz="1400">
                <a:solidFill>
                  <a:srgbClr val="E2E8F0"/>
                </a:solidFill>
                <a:latin typeface="Calibri"/>
              </a:rPr>
              <a:t>Updated cumulative CGPA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234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25296"/>
            <a:ext cx="12188952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11731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48872" y="201168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731752" y="201168"/>
            <a:ext cx="109728" cy="10972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11457432" cy="868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  <a:latin typeface="Calibri"/>
              </a:rPr>
              <a:t>Presentation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2880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  <a:latin typeface="Calibri"/>
              </a:rPr>
              <a:t>Menu-driven console interface (main.cpp)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77440"/>
            <a:ext cx="9875520" cy="868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2377440"/>
            <a:ext cx="73152" cy="8686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4231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D3EE"/>
                </a:solidFill>
                <a:latin typeface="Calibri"/>
              </a:rPr>
              <a:t>Business Logic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83464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  <a:latin typeface="Calibri"/>
              </a:rPr>
              <a:t>Course, Student, GradeCalculator classes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383280"/>
            <a:ext cx="8293608" cy="868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760" y="3383280"/>
            <a:ext cx="73152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4290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Calibri"/>
              </a:rPr>
              <a:t>Data Access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840480"/>
            <a:ext cx="79278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  <a:latin typeface="Calibri"/>
              </a:rPr>
              <a:t>FileManager for CSV data persistence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389120"/>
            <a:ext cx="6711696" cy="868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4389120"/>
            <a:ext cx="73152" cy="8686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44348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BBF24"/>
                </a:solidFill>
                <a:latin typeface="Calibri"/>
              </a:rPr>
              <a:t>Notification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846320"/>
            <a:ext cx="6345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  <a:latin typeface="Calibri"/>
              </a:rPr>
              <a:t>GradeObserver for alerts and notifications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394960"/>
            <a:ext cx="5129784" cy="868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5760" y="5394960"/>
            <a:ext cx="73152" cy="8686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54406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C4899"/>
                </a:solidFill>
                <a:latin typeface="Calibri"/>
              </a:rPr>
              <a:t>Reporting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852160"/>
            <a:ext cx="47640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  <a:latin typeface="Calibri"/>
              </a:rPr>
              <a:t>ReportGenerator for transcripts and progress reports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92240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B949E"/>
                </a:solidFill>
                <a:latin typeface="Calibri"/>
              </a:rPr>
              <a:t>Clear separation of concerns following layered architecture pattern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234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25296"/>
            <a:ext cx="12188952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11731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REPORT GENERATION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48872" y="201168"/>
            <a:ext cx="109728" cy="10972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731752" y="201168"/>
            <a:ext cx="109728" cy="10972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2651760" cy="4754880"/>
          </a:xfrm>
          <a:prstGeom prst="rect">
            <a:avLst/>
          </a:prstGeom>
          <a:solidFill>
            <a:srgbClr val="161B22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265176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5544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7C3AED"/>
                </a:solidFill>
                <a:latin typeface="Calibri"/>
              </a:rPr>
              <a:t>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331720"/>
            <a:ext cx="2377440" cy="1905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46888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Academic Transcript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291840"/>
            <a:ext cx="2377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  <a:latin typeface="Calibri"/>
              </a:rPr>
              <a:t>Complete course history with all grades and cumulative GPA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371600"/>
            <a:ext cx="2651760" cy="4754880"/>
          </a:xfrm>
          <a:prstGeom prst="rect">
            <a:avLst/>
          </a:prstGeom>
          <a:solidFill>
            <a:srgbClr val="161B22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91840" y="1371600"/>
            <a:ext cx="265176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29000" y="15544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2D3EE"/>
                </a:solidFill>
                <a:latin typeface="Calibri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29000" y="2331720"/>
            <a:ext cx="2377440" cy="190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29000" y="246888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Semester Grade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3291840"/>
            <a:ext cx="2377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  <a:latin typeface="Calibri"/>
              </a:rPr>
              <a:t>Detailed breakdown of current semester courses and scores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371600"/>
            <a:ext cx="2651760" cy="4754880"/>
          </a:xfrm>
          <a:prstGeom prst="rect">
            <a:avLst/>
          </a:prstGeom>
          <a:solidFill>
            <a:srgbClr val="161B2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1371600"/>
            <a:ext cx="26517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5080" y="15544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0B981"/>
                </a:solidFill>
                <a:latin typeface="Calibri"/>
              </a:rPr>
              <a:t>03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2331720"/>
            <a:ext cx="2377440" cy="190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55080" y="246888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CGPA Progress 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291840"/>
            <a:ext cx="2377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  <a:latin typeface="Calibri"/>
              </a:rPr>
              <a:t>Comparison of previous and updated CGPA over semesters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1371600"/>
            <a:ext cx="2651760" cy="4754880"/>
          </a:xfrm>
          <a:prstGeom prst="rect">
            <a:avLst/>
          </a:prstGeom>
          <a:solidFill>
            <a:srgbClr val="161B22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144000" y="1371600"/>
            <a:ext cx="2651760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81160" y="15544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BBF24"/>
                </a:solidFill>
                <a:latin typeface="Calibri"/>
              </a:rPr>
              <a:t>04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81160" y="2331720"/>
            <a:ext cx="2377440" cy="1905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81160" y="246888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Detailed Course Analysis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3291840"/>
            <a:ext cx="2377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  <a:latin typeface="Calibri"/>
              </a:rPr>
              <a:t>Assessment-wise breakdown for each course (Assignments/Exams)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234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25296"/>
            <a:ext cx="12188952" cy="381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11731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HOW TO RUN THE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48872" y="201168"/>
            <a:ext cx="109728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731752" y="201168"/>
            <a:ext cx="109728" cy="10972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11457432" cy="1645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" cy="16459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914400" cy="1645920"/>
          </a:xfrm>
          <a:prstGeom prst="rect">
            <a:avLst/>
          </a:prstGeom>
          <a:solidFill>
            <a:srgbClr val="28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46304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97316"/>
                </a:solidFill>
                <a:latin typeface="Calibr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7452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Open Terminal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55448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  <a:latin typeface="Calibri"/>
              </a:rPr>
              <a:t>Open a terminal / command prompt in the project folder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108960"/>
            <a:ext cx="11457432" cy="1645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3108960"/>
            <a:ext cx="73152" cy="16459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3108960"/>
            <a:ext cx="914400" cy="1645920"/>
          </a:xfrm>
          <a:prstGeom prst="rect">
            <a:avLst/>
          </a:prstGeom>
          <a:solidFill>
            <a:srgbClr val="28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320040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97316"/>
                </a:solidFill>
                <a:latin typeface="Calibri"/>
              </a:rPr>
              <a:t>Step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61188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Compile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63040" y="3200400"/>
            <a:ext cx="10360152" cy="1463040"/>
          </a:xfrm>
          <a:prstGeom prst="rect">
            <a:avLst/>
          </a:prstGeom>
          <a:solidFill>
            <a:srgbClr val="0D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554480" y="3246120"/>
            <a:ext cx="102687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D3EE"/>
                </a:solidFill>
                <a:latin typeface="Courier New"/>
              </a:rPr>
              <a:t>g++ -std=c++17 -Wall -I. src/main.cpp src/Course.cpp src/Student.cpp
src/GradeCalculator.cpp src/ReportGenerator.cpp src/GradeObserver.cpp src/FileManager.cpp
-o bin/StudentGradeCalculator
  or simply:  make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846320"/>
            <a:ext cx="11457432" cy="1645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4846320"/>
            <a:ext cx="73152" cy="16459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4846320"/>
            <a:ext cx="914400" cy="1645920"/>
          </a:xfrm>
          <a:prstGeom prst="rect">
            <a:avLst/>
          </a:prstGeom>
          <a:solidFill>
            <a:srgbClr val="28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493776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97316"/>
                </a:solidFill>
                <a:latin typeface="Calibri"/>
              </a:rPr>
              <a:t>Step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34924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Run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63040" y="4937760"/>
            <a:ext cx="10360152" cy="1463040"/>
          </a:xfrm>
          <a:prstGeom prst="rect">
            <a:avLst/>
          </a:prstGeom>
          <a:solidFill>
            <a:srgbClr val="0D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554480" y="4983480"/>
            <a:ext cx="102687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D3EE"/>
                </a:solidFill>
                <a:latin typeface="Courier New"/>
              </a:rPr>
              <a:t>Windows:   bin\StudentGradeCalculator.exe
Linux/Mac: ./bin/StudentGradeCalculator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234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25296"/>
            <a:ext cx="12188952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11731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PROJECT FILE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48872" y="201168"/>
            <a:ext cx="109728" cy="10972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731752" y="201168"/>
            <a:ext cx="109728" cy="10972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3566160" cy="5303520"/>
          </a:xfrm>
          <a:prstGeom prst="rect">
            <a:avLst/>
          </a:prstGeom>
          <a:solidFill>
            <a:srgbClr val="161B22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356616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5544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7C3AED"/>
                </a:solidFill>
                <a:latin typeface="Courier New"/>
              </a:rPr>
              <a:t>include/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03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B949E"/>
                </a:solidFill>
                <a:latin typeface="Calibri"/>
              </a:rPr>
              <a:t>Header files with class definitions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468880"/>
            <a:ext cx="3291840" cy="127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260604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100">
                <a:solidFill>
                  <a:srgbClr val="7C3AED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Constants.h — Grading scale constants and validation limits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7C3AED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Course.h — Course class interface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7C3AED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Student.h — Student class interface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7C3AED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GradeCalculator.h, ReportGenerator.h, GradeObserver.h, FileManager.h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371600"/>
            <a:ext cx="3566160" cy="5303520"/>
          </a:xfrm>
          <a:prstGeom prst="rect">
            <a:avLst/>
          </a:prstGeom>
          <a:solidFill>
            <a:srgbClr val="161B22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97680" y="1371600"/>
            <a:ext cx="356616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34840" y="15544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2D3EE"/>
                </a:solidFill>
                <a:latin typeface="Courier New"/>
              </a:rPr>
              <a:t>src/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103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B949E"/>
                </a:solidFill>
                <a:latin typeface="Calibri"/>
              </a:rPr>
              <a:t>C++ implementation files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2468880"/>
            <a:ext cx="3291840" cy="127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34840" y="260604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100">
                <a:solidFill>
                  <a:srgbClr val="22D3EE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main.cpp — Menu-driven user interface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22D3EE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Course.cpp, Student.cpp — Core entity implementations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22D3EE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GradeCalculator.cpp, ReportGenerator.cpp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22D3EE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GradeObserver.cpp, FileManager.cpp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371600"/>
            <a:ext cx="3566160" cy="5303520"/>
          </a:xfrm>
          <a:prstGeom prst="rect">
            <a:avLst/>
          </a:prstGeom>
          <a:solidFill>
            <a:srgbClr val="161B2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29600" y="1371600"/>
            <a:ext cx="35661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66760" y="15544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0B981"/>
                </a:solidFill>
                <a:latin typeface="Courier New"/>
              </a:rPr>
              <a:t>bin/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103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B949E"/>
                </a:solidFill>
                <a:latin typeface="Calibri"/>
              </a:rPr>
              <a:t>Compiled executable output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66760" y="2468880"/>
            <a:ext cx="3291840" cy="127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66760" y="260604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100">
                <a:solidFill>
                  <a:srgbClr val="10B981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StudentGradeCalculator.exe (Windows)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10B981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./StudentGradeCalculator (Linux/Mac)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10B981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Generated by running: make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25296"/>
            <a:ext cx="12188952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11731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TYPICAL USAGE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48872" y="201168"/>
            <a:ext cx="10972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731752" y="201168"/>
            <a:ext cx="109728" cy="10972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5486400" cy="5257800"/>
          </a:xfrm>
          <a:prstGeom prst="rect">
            <a:avLst/>
          </a:prstGeom>
          <a:solidFill>
            <a:srgbClr val="161B22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" cy="5257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  <a:latin typeface="Calibri"/>
              </a:rPr>
              <a:t>Option A — Full Student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1400" b="1">
                <a:solidFill>
                  <a:srgbClr val="7C3AED"/>
                </a:solidFill>
                <a:latin typeface="Calibri"/>
              </a:rPr>
              <a:t>1.  </a:t>
            </a:r>
            <a:r>
              <a:rPr sz="1400">
                <a:solidFill>
                  <a:srgbClr val="E2E8F0"/>
                </a:solidFill>
                <a:latin typeface="Calibri"/>
              </a:rPr>
              <a:t>Add new student (name, roll no, email)</a:t>
            </a:r>
          </a:p>
          <a:p>
            <a:pPr>
              <a:spcBef>
                <a:spcPts val="1200"/>
              </a:spcBef>
            </a:pPr>
            <a:r>
              <a:rPr sz="1400" b="1">
                <a:solidFill>
                  <a:srgbClr val="7C3AED"/>
                </a:solidFill>
                <a:latin typeface="Calibri"/>
              </a:rPr>
              <a:t>2.  </a:t>
            </a:r>
            <a:r>
              <a:rPr sz="1400">
                <a:solidFill>
                  <a:srgbClr val="E2E8F0"/>
                </a:solidFill>
                <a:latin typeface="Calibri"/>
              </a:rPr>
              <a:t>Enter optional previous CGPA and credit hours</a:t>
            </a:r>
          </a:p>
          <a:p>
            <a:pPr>
              <a:spcBef>
                <a:spcPts val="1200"/>
              </a:spcBef>
            </a:pPr>
            <a:r>
              <a:rPr sz="1400" b="1">
                <a:solidFill>
                  <a:srgbClr val="7C3AED"/>
                </a:solidFill>
                <a:latin typeface="Calibri"/>
              </a:rPr>
              <a:t>3.  </a:t>
            </a:r>
            <a:r>
              <a:rPr sz="1400">
                <a:solidFill>
                  <a:srgbClr val="E2E8F0"/>
                </a:solidFill>
                <a:latin typeface="Calibri"/>
              </a:rPr>
              <a:t>Enroll in courses (max 10 per semester)</a:t>
            </a:r>
          </a:p>
          <a:p>
            <a:pPr>
              <a:spcBef>
                <a:spcPts val="1200"/>
              </a:spcBef>
            </a:pPr>
            <a:r>
              <a:rPr sz="1400" b="1">
                <a:solidFill>
                  <a:srgbClr val="7C3AED"/>
                </a:solidFill>
                <a:latin typeface="Calibri"/>
              </a:rPr>
              <a:t>4.  </a:t>
            </a:r>
            <a:r>
              <a:rPr sz="1400">
                <a:solidFill>
                  <a:srgbClr val="E2E8F0"/>
                </a:solidFill>
                <a:latin typeface="Calibri"/>
              </a:rPr>
              <a:t>Enter marks for each assessment component</a:t>
            </a:r>
          </a:p>
          <a:p>
            <a:pPr>
              <a:spcBef>
                <a:spcPts val="1200"/>
              </a:spcBef>
            </a:pPr>
            <a:r>
              <a:rPr sz="1400" b="1">
                <a:solidFill>
                  <a:srgbClr val="7C3AED"/>
                </a:solidFill>
                <a:latin typeface="Calibri"/>
              </a:rPr>
              <a:t>5.  </a:t>
            </a:r>
            <a:r>
              <a:rPr sz="1400">
                <a:solidFill>
                  <a:srgbClr val="E2E8F0"/>
                </a:solidFill>
                <a:latin typeface="Calibri"/>
              </a:rPr>
              <a:t>Generate reports (transcripts, progress reports)</a:t>
            </a:r>
          </a:p>
          <a:p>
            <a:pPr>
              <a:spcBef>
                <a:spcPts val="1200"/>
              </a:spcBef>
            </a:pPr>
            <a:r>
              <a:rPr sz="1400" b="1">
                <a:solidFill>
                  <a:srgbClr val="7C3AED"/>
                </a:solidFill>
                <a:latin typeface="Calibri"/>
              </a:rPr>
              <a:t>6.  </a:t>
            </a:r>
            <a:r>
              <a:rPr sz="1400">
                <a:solidFill>
                  <a:srgbClr val="E2E8F0"/>
                </a:solidFill>
                <a:latin typeface="Calibri"/>
              </a:rPr>
              <a:t>Save data to file with backup option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605272" cy="5257800"/>
          </a:xfrm>
          <a:prstGeom prst="rect">
            <a:avLst/>
          </a:prstGeom>
          <a:solidFill>
            <a:srgbClr val="161B22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73152" cy="5257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4630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D3EE"/>
                </a:solidFill>
                <a:latin typeface="Calibri"/>
              </a:rPr>
              <a:t>Option B — Quick CGPA Calculator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116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  <a:latin typeface="Calibri"/>
              </a:rPr>
              <a:t>Main Menu → Option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560320"/>
            <a:ext cx="5303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300">
                <a:solidFill>
                  <a:srgbClr val="22D3EE"/>
                </a:solidFill>
                <a:latin typeface="Calibri"/>
              </a:rPr>
              <a:t>▸  </a:t>
            </a:r>
            <a:r>
              <a:rPr sz="1400">
                <a:solidFill>
                  <a:srgbClr val="E2E8F0"/>
                </a:solidFill>
                <a:latin typeface="Calibri"/>
              </a:rPr>
              <a:t>Enter current CGPA + previous credit hours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22D3EE"/>
                </a:solidFill>
                <a:latin typeface="Calibri"/>
              </a:rPr>
              <a:t>▸  </a:t>
            </a:r>
            <a:r>
              <a:rPr sz="1400">
                <a:solidFill>
                  <a:srgbClr val="E2E8F0"/>
                </a:solidFill>
                <a:latin typeface="Calibri"/>
              </a:rPr>
              <a:t>Enter number of courses and their letter grades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22D3EE"/>
                </a:solidFill>
                <a:latin typeface="Calibri"/>
              </a:rPr>
              <a:t>▸  </a:t>
            </a:r>
            <a:r>
              <a:rPr sz="1400">
                <a:solidFill>
                  <a:srgbClr val="E2E8F0"/>
                </a:solidFill>
                <a:latin typeface="Calibri"/>
              </a:rPr>
              <a:t>Enter credit hours per course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22D3EE"/>
                </a:solidFill>
                <a:latin typeface="Calibri"/>
              </a:rPr>
              <a:t>▸  </a:t>
            </a:r>
            <a:r>
              <a:rPr sz="1400">
                <a:solidFill>
                  <a:srgbClr val="E2E8F0"/>
                </a:solidFill>
                <a:latin typeface="Calibri"/>
              </a:rPr>
              <a:t>Instant semester GPA result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22D3EE"/>
                </a:solidFill>
                <a:latin typeface="Calibri"/>
              </a:rPr>
              <a:t>▸  </a:t>
            </a:r>
            <a:r>
              <a:rPr sz="1400">
                <a:solidFill>
                  <a:srgbClr val="E2E8F0"/>
                </a:solidFill>
                <a:latin typeface="Calibri"/>
              </a:rPr>
              <a:t>Instant updated CGPA result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234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25296"/>
            <a:ext cx="12188952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11731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ERROR HANDLING &amp;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48872" y="201168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731752" y="201168"/>
            <a:ext cx="109728" cy="10972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11457432" cy="5257800"/>
          </a:xfrm>
          <a:prstGeom prst="rect">
            <a:avLst/>
          </a:prstGeom>
          <a:solidFill>
            <a:srgbClr val="161B22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" cy="5257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11556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</a:pPr>
            <a:r>
              <a:rPr sz="1900" b="1">
                <a:solidFill>
                  <a:srgbClr val="10B981"/>
                </a:solidFill>
                <a:latin typeface="Calibri"/>
              </a:rPr>
              <a:t>✓  </a:t>
            </a:r>
            <a:r>
              <a:rPr sz="1900">
                <a:solidFill>
                  <a:srgbClr val="E2E8F0"/>
                </a:solidFill>
                <a:latin typeface="Calibri"/>
              </a:rPr>
              <a:t>Input validation for all numerical entries</a:t>
            </a:r>
          </a:p>
          <a:p>
            <a:pPr>
              <a:spcBef>
                <a:spcPts val="1600"/>
              </a:spcBef>
            </a:pPr>
            <a:r>
              <a:rPr sz="1900" b="1">
                <a:solidFill>
                  <a:srgbClr val="10B981"/>
                </a:solidFill>
                <a:latin typeface="Calibri"/>
              </a:rPr>
              <a:t>✓  </a:t>
            </a:r>
            <a:r>
              <a:rPr sz="1900">
                <a:solidFill>
                  <a:srgbClr val="E2E8F0"/>
                </a:solidFill>
                <a:latin typeface="Calibri"/>
              </a:rPr>
              <a:t>Email format verification on student records</a:t>
            </a:r>
          </a:p>
          <a:p>
            <a:pPr>
              <a:spcBef>
                <a:spcPts val="1600"/>
              </a:spcBef>
            </a:pPr>
            <a:r>
              <a:rPr sz="1900" b="1">
                <a:solidFill>
                  <a:srgbClr val="10B981"/>
                </a:solidFill>
                <a:latin typeface="Calibri"/>
              </a:rPr>
              <a:t>✓  </a:t>
            </a:r>
            <a:r>
              <a:rPr sz="1900">
                <a:solidFill>
                  <a:srgbClr val="E2E8F0"/>
                </a:solidFill>
                <a:latin typeface="Calibri"/>
              </a:rPr>
              <a:t>Duplicate course code prevention</a:t>
            </a:r>
          </a:p>
          <a:p>
            <a:pPr>
              <a:spcBef>
                <a:spcPts val="1600"/>
              </a:spcBef>
            </a:pPr>
            <a:r>
              <a:rPr sz="1900" b="1">
                <a:solidFill>
                  <a:srgbClr val="10B981"/>
                </a:solidFill>
                <a:latin typeface="Calibri"/>
              </a:rPr>
              <a:t>✓  </a:t>
            </a:r>
            <a:r>
              <a:rPr sz="1900">
                <a:solidFill>
                  <a:srgbClr val="E2E8F0"/>
                </a:solidFill>
                <a:latin typeface="Calibri"/>
              </a:rPr>
              <a:t>Course enrollment limits enforced (max 10 per semester)</a:t>
            </a:r>
          </a:p>
          <a:p>
            <a:pPr>
              <a:spcBef>
                <a:spcPts val="1600"/>
              </a:spcBef>
            </a:pPr>
            <a:r>
              <a:rPr sz="1900" b="1">
                <a:solidFill>
                  <a:srgbClr val="10B981"/>
                </a:solidFill>
                <a:latin typeface="Calibri"/>
              </a:rPr>
              <a:t>✓  </a:t>
            </a:r>
            <a:r>
              <a:rPr sz="1900">
                <a:solidFill>
                  <a:srgbClr val="E2E8F0"/>
                </a:solidFill>
                <a:latin typeface="Calibri"/>
              </a:rPr>
              <a:t>Student limit enforcement (max 500 students)</a:t>
            </a:r>
          </a:p>
          <a:p>
            <a:pPr>
              <a:spcBef>
                <a:spcPts val="1600"/>
              </a:spcBef>
            </a:pPr>
            <a:r>
              <a:rPr sz="1900" b="1">
                <a:solidFill>
                  <a:srgbClr val="10B981"/>
                </a:solidFill>
                <a:latin typeface="Calibri"/>
              </a:rPr>
              <a:t>✓  </a:t>
            </a:r>
            <a:r>
              <a:rPr sz="1900">
                <a:solidFill>
                  <a:srgbClr val="E2E8F0"/>
                </a:solidFill>
                <a:latin typeface="Calibri"/>
              </a:rPr>
              <a:t>File I/O error handling with user-friendly feedback</a:t>
            </a:r>
          </a:p>
          <a:p>
            <a:pPr>
              <a:spcBef>
                <a:spcPts val="1600"/>
              </a:spcBef>
            </a:pPr>
            <a:r>
              <a:rPr sz="1900" b="1">
                <a:solidFill>
                  <a:srgbClr val="10B981"/>
                </a:solidFill>
                <a:latin typeface="Calibri"/>
              </a:rPr>
              <a:t>✓  </a:t>
            </a:r>
            <a:r>
              <a:rPr sz="1900">
                <a:solidFill>
                  <a:srgbClr val="E2E8F0"/>
                </a:solidFill>
                <a:latin typeface="Calibri"/>
              </a:rPr>
              <a:t>Proper memory management throughout the application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234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25296"/>
            <a:ext cx="12188952" cy="381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11731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DATA PERSISTENCE &amp; BACKUP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48872" y="201168"/>
            <a:ext cx="109728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731752" y="201168"/>
            <a:ext cx="109728" cy="10972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347472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347472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Format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288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CSV with pipe (|) delimiters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371600"/>
            <a:ext cx="347472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06240" y="1371600"/>
            <a:ext cx="347472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4340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Calibri"/>
              </a:rPr>
              <a:t>Primary 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8288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data/students.csv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371600"/>
            <a:ext cx="347472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371600"/>
            <a:ext cx="34747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8388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Backup 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18288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ourier New"/>
              </a:rPr>
              <a:t>data/students.csv.backup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651760"/>
            <a:ext cx="11457432" cy="3977639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97316"/>
                </a:solidFill>
                <a:latin typeface="Calibri"/>
              </a:rPr>
              <a:t>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200400"/>
            <a:ext cx="112745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</a:pPr>
            <a:r>
              <a:rPr sz="1700">
                <a:solidFill>
                  <a:srgbClr val="F97316"/>
                </a:solidFill>
                <a:latin typeface="Calibri"/>
              </a:rPr>
              <a:t>▸  </a:t>
            </a:r>
            <a:r>
              <a:rPr sz="1800">
                <a:solidFill>
                  <a:srgbClr val="E2E8F0"/>
                </a:solidFill>
                <a:latin typeface="Calibri"/>
              </a:rPr>
              <a:t>Automatic data saving on program exit</a:t>
            </a:r>
          </a:p>
          <a:p>
            <a:pPr>
              <a:spcBef>
                <a:spcPts val="1600"/>
              </a:spcBef>
            </a:pPr>
            <a:r>
              <a:rPr sz="1700">
                <a:solidFill>
                  <a:srgbClr val="F97316"/>
                </a:solidFill>
                <a:latin typeface="Calibri"/>
              </a:rPr>
              <a:t>▸  </a:t>
            </a:r>
            <a:r>
              <a:rPr sz="1800">
                <a:solidFill>
                  <a:srgbClr val="E2E8F0"/>
                </a:solidFill>
                <a:latin typeface="Calibri"/>
              </a:rPr>
              <a:t>Manual backup creation on demand</a:t>
            </a:r>
          </a:p>
          <a:p>
            <a:pPr>
              <a:spcBef>
                <a:spcPts val="1600"/>
              </a:spcBef>
            </a:pPr>
            <a:r>
              <a:rPr sz="1700">
                <a:solidFill>
                  <a:srgbClr val="F97316"/>
                </a:solidFill>
                <a:latin typeface="Calibri"/>
              </a:rPr>
              <a:t>▸  </a:t>
            </a:r>
            <a:r>
              <a:rPr sz="1800">
                <a:solidFill>
                  <a:srgbClr val="E2E8F0"/>
                </a:solidFill>
                <a:latin typeface="Calibri"/>
              </a:rPr>
              <a:t>Restore from backup functionality</a:t>
            </a:r>
          </a:p>
          <a:p>
            <a:pPr>
              <a:spcBef>
                <a:spcPts val="1600"/>
              </a:spcBef>
            </a:pPr>
            <a:r>
              <a:rPr sz="1700">
                <a:solidFill>
                  <a:srgbClr val="F97316"/>
                </a:solidFill>
                <a:latin typeface="Calibri"/>
              </a:rPr>
              <a:t>▸  </a:t>
            </a:r>
            <a:r>
              <a:rPr sz="1800">
                <a:solidFill>
                  <a:srgbClr val="E2E8F0"/>
                </a:solidFill>
                <a:latin typeface="Calibri"/>
              </a:rPr>
              <a:t>Directory auto-creation if not present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2344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25296"/>
            <a:ext cx="12188952" cy="381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11731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FUTURE ENHANCEMENTS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48872" y="201168"/>
            <a:ext cx="109728" cy="10972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731752" y="201168"/>
            <a:ext cx="109728" cy="10972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5577840" cy="5257800"/>
          </a:xfrm>
          <a:prstGeom prst="rect">
            <a:avLst/>
          </a:prstGeom>
          <a:solidFill>
            <a:srgbClr val="161B22"/>
          </a:solidFill>
          <a:ln w="63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" cy="5257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605272" cy="5257800"/>
          </a:xfrm>
          <a:prstGeom prst="rect">
            <a:avLst/>
          </a:prstGeom>
          <a:solidFill>
            <a:srgbClr val="161B22"/>
          </a:solidFill>
          <a:ln w="63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73152" cy="5257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155448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sz="1500">
                <a:solidFill>
                  <a:srgbClr val="EC4899"/>
                </a:solidFill>
                <a:latin typeface="Calibri"/>
              </a:rPr>
              <a:t>▸  </a:t>
            </a:r>
            <a:r>
              <a:rPr sz="1600">
                <a:solidFill>
                  <a:srgbClr val="E2E8F0"/>
                </a:solidFill>
                <a:latin typeface="Calibri"/>
              </a:rPr>
              <a:t>GUI Version — Using Qt or wxWidgets framework</a:t>
            </a:r>
          </a:p>
          <a:p>
            <a:pPr>
              <a:spcBef>
                <a:spcPts val="1800"/>
              </a:spcBef>
            </a:pPr>
            <a:r>
              <a:rPr sz="1500">
                <a:solidFill>
                  <a:srgbClr val="EC4899"/>
                </a:solidFill>
                <a:latin typeface="Calibri"/>
              </a:rPr>
              <a:t>▸  </a:t>
            </a:r>
            <a:r>
              <a:rPr sz="1600">
                <a:solidFill>
                  <a:srgbClr val="E2E8F0"/>
                </a:solidFill>
                <a:latin typeface="Calibri"/>
              </a:rPr>
              <a:t>Database Integration — SQLite or MySQL backend</a:t>
            </a:r>
          </a:p>
          <a:p>
            <a:pPr>
              <a:spcBef>
                <a:spcPts val="1800"/>
              </a:spcBef>
            </a:pPr>
            <a:r>
              <a:rPr sz="1500">
                <a:solidFill>
                  <a:srgbClr val="EC4899"/>
                </a:solidFill>
                <a:latin typeface="Calibri"/>
              </a:rPr>
              <a:t>▸  </a:t>
            </a:r>
            <a:r>
              <a:rPr sz="1600">
                <a:solidFill>
                  <a:srgbClr val="E2E8F0"/>
                </a:solidFill>
                <a:latin typeface="Calibri"/>
              </a:rPr>
              <a:t>Web Interface — Modern web technologies (React/Vue)</a:t>
            </a:r>
          </a:p>
          <a:p>
            <a:pPr>
              <a:spcBef>
                <a:spcPts val="1800"/>
              </a:spcBef>
            </a:pPr>
            <a:r>
              <a:rPr sz="1500">
                <a:solidFill>
                  <a:srgbClr val="EC4899"/>
                </a:solidFill>
                <a:latin typeface="Calibri"/>
              </a:rPr>
              <a:t>▸  </a:t>
            </a:r>
            <a:r>
              <a:rPr sz="1600">
                <a:solidFill>
                  <a:srgbClr val="E2E8F0"/>
                </a:solidFill>
                <a:latin typeface="Calibri"/>
              </a:rPr>
              <a:t>Mobile App — iOS and Android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55448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</a:pPr>
            <a:r>
              <a:rPr sz="1500">
                <a:solidFill>
                  <a:srgbClr val="EC4899"/>
                </a:solidFill>
                <a:latin typeface="Calibri"/>
              </a:rPr>
              <a:t>▸  </a:t>
            </a:r>
            <a:r>
              <a:rPr sz="1600">
                <a:solidFill>
                  <a:srgbClr val="E2E8F0"/>
                </a:solidFill>
                <a:latin typeface="Calibri"/>
              </a:rPr>
              <a:t>Email Notifications — Automated grade alerts</a:t>
            </a:r>
          </a:p>
          <a:p>
            <a:pPr>
              <a:spcBef>
                <a:spcPts val="1800"/>
              </a:spcBef>
            </a:pPr>
            <a:r>
              <a:rPr sz="1500">
                <a:solidFill>
                  <a:srgbClr val="EC4899"/>
                </a:solidFill>
                <a:latin typeface="Calibri"/>
              </a:rPr>
              <a:t>▸  </a:t>
            </a:r>
            <a:r>
              <a:rPr sz="1600">
                <a:solidFill>
                  <a:srgbClr val="E2E8F0"/>
                </a:solidFill>
                <a:latin typeface="Calibri"/>
              </a:rPr>
              <a:t>Grade Prediction — ML-based analytics</a:t>
            </a:r>
          </a:p>
          <a:p>
            <a:pPr>
              <a:spcBef>
                <a:spcPts val="1800"/>
              </a:spcBef>
            </a:pPr>
            <a:r>
              <a:rPr sz="1500">
                <a:solidFill>
                  <a:srgbClr val="EC4899"/>
                </a:solidFill>
                <a:latin typeface="Calibri"/>
              </a:rPr>
              <a:t>▸  </a:t>
            </a:r>
            <a:r>
              <a:rPr sz="1600">
                <a:solidFill>
                  <a:srgbClr val="E2E8F0"/>
                </a:solidFill>
                <a:latin typeface="Calibri"/>
              </a:rPr>
              <a:t>Advanced Reporting — Charts and visualizations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25296"/>
            <a:ext cx="12188952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11731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48872" y="201168"/>
            <a:ext cx="10972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731752" y="201168"/>
            <a:ext cx="109728" cy="10972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11457432" cy="4114800"/>
          </a:xfrm>
          <a:prstGeom prst="rect">
            <a:avLst/>
          </a:prstGeom>
          <a:solidFill>
            <a:srgbClr val="161B22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73152" cy="4114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B949E"/>
                </a:solidFill>
                <a:latin typeface="Calibri"/>
              </a:rPr>
              <a:t>This project successfully demonstrates: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700" b="1">
                <a:solidFill>
                  <a:srgbClr val="10B981"/>
                </a:solidFill>
                <a:latin typeface="Calibri"/>
              </a:rPr>
              <a:t>✓  </a:t>
            </a:r>
            <a:r>
              <a:rPr sz="1700">
                <a:solidFill>
                  <a:srgbClr val="E2E8F0"/>
                </a:solidFill>
                <a:latin typeface="Calibri"/>
              </a:rPr>
              <a:t>Professional Software Engineering practices</a:t>
            </a:r>
          </a:p>
          <a:p>
            <a:pPr>
              <a:spcBef>
                <a:spcPts val="1400"/>
              </a:spcBef>
            </a:pPr>
            <a:r>
              <a:rPr sz="1700" b="1">
                <a:solidFill>
                  <a:srgbClr val="10B981"/>
                </a:solidFill>
                <a:latin typeface="Calibri"/>
              </a:rPr>
              <a:t>✓  </a:t>
            </a:r>
            <a:r>
              <a:rPr sz="1700">
                <a:solidFill>
                  <a:srgbClr val="E2E8F0"/>
                </a:solidFill>
                <a:latin typeface="Calibri"/>
              </a:rPr>
              <a:t>Object-Oriented Programming principles (Classes, Inheritance, Polymorphism)</a:t>
            </a:r>
          </a:p>
          <a:p>
            <a:pPr>
              <a:spcBef>
                <a:spcPts val="1400"/>
              </a:spcBef>
            </a:pPr>
            <a:r>
              <a:rPr sz="1700" b="1">
                <a:solidFill>
                  <a:srgbClr val="10B981"/>
                </a:solidFill>
                <a:latin typeface="Calibri"/>
              </a:rPr>
              <a:t>✓  </a:t>
            </a:r>
            <a:r>
              <a:rPr sz="1700">
                <a:solidFill>
                  <a:srgbClr val="E2E8F0"/>
                </a:solidFill>
                <a:latin typeface="Calibri"/>
              </a:rPr>
              <a:t>SOLID design principles applied throughout the codebase</a:t>
            </a:r>
          </a:p>
          <a:p>
            <a:pPr>
              <a:spcBef>
                <a:spcPts val="1400"/>
              </a:spcBef>
            </a:pPr>
            <a:r>
              <a:rPr sz="1700" b="1">
                <a:solidFill>
                  <a:srgbClr val="10B981"/>
                </a:solidFill>
                <a:latin typeface="Calibri"/>
              </a:rPr>
              <a:t>✓  </a:t>
            </a:r>
            <a:r>
              <a:rPr sz="1700">
                <a:solidFill>
                  <a:srgbClr val="E2E8F0"/>
                </a:solidFill>
                <a:latin typeface="Calibri"/>
              </a:rPr>
              <a:t>Industry-standard design patterns (Singleton, Factory, Observer, Strategy)</a:t>
            </a:r>
          </a:p>
          <a:p>
            <a:pPr>
              <a:spcBef>
                <a:spcPts val="1400"/>
              </a:spcBef>
            </a:pPr>
            <a:r>
              <a:rPr sz="1700" b="1">
                <a:solidFill>
                  <a:srgbClr val="10B981"/>
                </a:solidFill>
                <a:latin typeface="Calibri"/>
              </a:rPr>
              <a:t>✓  </a:t>
            </a:r>
            <a:r>
              <a:rPr sz="1700">
                <a:solidFill>
                  <a:srgbClr val="E2E8F0"/>
                </a:solidFill>
                <a:latin typeface="Calibri"/>
              </a:rPr>
              <a:t>Robust error handling and comprehensive input validation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5623560"/>
            <a:ext cx="11457432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57607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 solid foundation for future enhancements and scalable architecture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74320" y="-274320"/>
            <a:ext cx="4114800" cy="411480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0" y="4114800"/>
            <a:ext cx="3657600" cy="3657600"/>
          </a:xfrm>
          <a:prstGeom prst="rect">
            <a:avLst/>
          </a:prstGeom>
          <a:solidFill>
            <a:srgbClr val="0D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71600" y="1645920"/>
            <a:ext cx="9445752" cy="3474720"/>
          </a:xfrm>
          <a:prstGeom prst="rect">
            <a:avLst/>
          </a:prstGeom>
          <a:solidFill>
            <a:srgbClr val="161B22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600" y="1645920"/>
            <a:ext cx="91440" cy="3474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0" y="192024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FILE-BY-FILE CODE EXPLANATION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3337560"/>
            <a:ext cx="4873752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28800" y="352044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B949E"/>
                </a:solidFill>
                <a:latin typeface="Calibri"/>
              </a:rPr>
              <a:t>14 files  ·  7 header files (.h)  ·  7 source files (.cpp)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3258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16736"/>
            <a:ext cx="12188952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8600" y="137160"/>
            <a:ext cx="2377440" cy="4572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828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HEADER 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91440"/>
            <a:ext cx="9171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ourier New"/>
              </a:rPr>
              <a:t>Constants.h</a:t>
            </a:r>
          </a:p>
        </p:txBody>
      </p:sp>
      <p:sp>
        <p:nvSpPr>
          <p:cNvPr id="8" name="Rectangle 7"/>
          <p:cNvSpPr/>
          <p:nvPr/>
        </p:nvSpPr>
        <p:spPr>
          <a:xfrm>
            <a:off x="11548872" y="228600"/>
            <a:ext cx="109728" cy="10972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731752" y="228600"/>
            <a:ext cx="109728" cy="10972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11457432" cy="868680"/>
          </a:xfrm>
          <a:prstGeom prst="rect">
            <a:avLst/>
          </a:prstGeom>
          <a:solidFill>
            <a:srgbClr val="1C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53619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  <a:latin typeface="Calibri"/>
              </a:rPr>
              <a:t>Purpose: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536192"/>
            <a:ext cx="98115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Central configuration file — defines ALL magic numbers, thresholds, and constants used across every other file in the project. No class is defined here; only global const values.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468880"/>
            <a:ext cx="2651760" cy="4160520"/>
          </a:xfrm>
          <a:prstGeom prst="rect">
            <a:avLst/>
          </a:prstGeom>
          <a:solidFill>
            <a:srgbClr val="161B22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2468880"/>
            <a:ext cx="265176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" y="26060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GRADING 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3063240"/>
            <a:ext cx="2468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7C3AED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GRADE_AP_MIN = 84.5f  →  A+ threshold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7C3AED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GRADE_A_MIN  = 79.5f  →  A  threshold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7C3AED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GRADE_BP_MIN = 74.5f  →  B+ threshold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7C3AED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... down to GRADE_D_MIN = 49.5f, GRADE_F_MIN = 0.0f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2468880"/>
            <a:ext cx="2651760" cy="4160520"/>
          </a:xfrm>
          <a:prstGeom prst="rect">
            <a:avLst/>
          </a:prstGeom>
          <a:solidFill>
            <a:srgbClr val="161B22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0" y="2468880"/>
            <a:ext cx="2651760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10128" y="26060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Calibri"/>
              </a:rPr>
              <a:t>GPA POINTS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128" y="3063240"/>
            <a:ext cx="2468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22D3EE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GPA_AP = 4.00  →  A+ grade point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22D3EE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GPA_A  = 3.70  →  A  grade point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22D3EE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GPA_BP = 3.40  →  B+ grade point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22D3EE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... down to GPA_D = 1.00, GPA_F = 0.00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2468880"/>
            <a:ext cx="2651760" cy="4160520"/>
          </a:xfrm>
          <a:prstGeom prst="rect">
            <a:avLst/>
          </a:prstGeom>
          <a:solidFill>
            <a:srgbClr val="161B22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035040" y="2468880"/>
            <a:ext cx="265176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44768" y="26060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ASSESSMENT WEIGHTS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3063240"/>
            <a:ext cx="2468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10B981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ASSIGNMENT_WEIGHT = 0.20  (20%)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10B981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MIDTERM_WEIGHT    = 0.20  (20%)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10B981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FINAL_WEIGHT      = 0.40  (40%)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10B981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PROJECT_WEIGHT    = 0.20  (20%)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69680" y="2468880"/>
            <a:ext cx="2651760" cy="4160520"/>
          </a:xfrm>
          <a:prstGeom prst="rect">
            <a:avLst/>
          </a:prstGeom>
          <a:solidFill>
            <a:srgbClr val="161B22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869680" y="2468880"/>
            <a:ext cx="2651760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79408" y="26060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Calibri"/>
              </a:rPr>
              <a:t>VALIDATION &amp; FILES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79408" y="3063240"/>
            <a:ext cx="2468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FBBF24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MAX_STUDENTS = 500, MAX_COURSES_PER_STUDENT = 10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FBBF24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MIN/MAX marks = 0-100, credit hours = 1-5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FBBF24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LOW_GRADE_THRESHOLD  = 2.0  (alert trigger)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FBBF24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HIGH_GRADE_THRESHOLD = 3.7  (celebration trigger)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FBBF24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DATA_FILE = "data/students.csv"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325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16736"/>
            <a:ext cx="12188952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8600" y="137160"/>
            <a:ext cx="237744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828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HEADER 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91440"/>
            <a:ext cx="9171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ourier New"/>
              </a:rPr>
              <a:t>Course.h</a:t>
            </a:r>
          </a:p>
        </p:txBody>
      </p:sp>
      <p:sp>
        <p:nvSpPr>
          <p:cNvPr id="8" name="Rectangle 7"/>
          <p:cNvSpPr/>
          <p:nvPr/>
        </p:nvSpPr>
        <p:spPr>
          <a:xfrm>
            <a:off x="11548872" y="228600"/>
            <a:ext cx="10972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731752" y="228600"/>
            <a:ext cx="109728" cy="10972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11457432" cy="777240"/>
          </a:xfrm>
          <a:prstGeom prst="rect">
            <a:avLst/>
          </a:prstGeom>
          <a:solidFill>
            <a:srgbClr val="1C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5361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Calibri"/>
              </a:rPr>
              <a:t>Purpose: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536192"/>
            <a:ext cx="98115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Declares the Course class — the fundamental unit of the system. Stores one subject's data (code, name, credit hours, 4 assessment marks) and exposes calculation methods. Includes Constants.h for validation limits.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77440"/>
            <a:ext cx="5212080" cy="4251960"/>
          </a:xfrm>
          <a:prstGeom prst="rect">
            <a:avLst/>
          </a:prstGeom>
          <a:solidFill>
            <a:srgbClr val="161B22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2377440"/>
            <a:ext cx="64008" cy="4251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4688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Calibri"/>
              </a:rPr>
              <a:t>Private Members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88036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1">
                <a:solidFill>
                  <a:srgbClr val="22D3EE"/>
                </a:solidFill>
                <a:latin typeface="Courier New"/>
              </a:rPr>
              <a:t>  courseCode  </a:t>
            </a:r>
            <a:r>
              <a:rPr sz="1200">
                <a:solidFill>
                  <a:srgbClr val="8B949E"/>
                </a:solidFill>
                <a:latin typeface="Calibri"/>
              </a:rPr>
              <a:t>—  Unique course identifier (e.g. CS-201)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22D3EE"/>
                </a:solidFill>
                <a:latin typeface="Courier New"/>
              </a:rPr>
              <a:t>  courseName  </a:t>
            </a:r>
            <a:r>
              <a:rPr sz="1200">
                <a:solidFill>
                  <a:srgbClr val="8B949E"/>
                </a:solidFill>
                <a:latin typeface="Calibri"/>
              </a:rPr>
              <a:t>—  Full name of the course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22D3EE"/>
                </a:solidFill>
                <a:latin typeface="Courier New"/>
              </a:rPr>
              <a:t>  creditHours  </a:t>
            </a:r>
            <a:r>
              <a:rPr sz="1200">
                <a:solidFill>
                  <a:srgbClr val="8B949E"/>
                </a:solidFill>
                <a:latin typeface="Calibri"/>
              </a:rPr>
              <a:t>—  Weight in GPA calculation (1–5)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22D3EE"/>
                </a:solidFill>
                <a:latin typeface="Courier New"/>
              </a:rPr>
              <a:t>  assignmentMarks  </a:t>
            </a:r>
            <a:r>
              <a:rPr sz="1200">
                <a:solidFill>
                  <a:srgbClr val="8B949E"/>
                </a:solidFill>
                <a:latin typeface="Calibri"/>
              </a:rPr>
              <a:t>—  Out of 100 — contributes 20%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22D3EE"/>
                </a:solidFill>
                <a:latin typeface="Courier New"/>
              </a:rPr>
              <a:t>  midtermMarks  </a:t>
            </a:r>
            <a:r>
              <a:rPr sz="1200">
                <a:solidFill>
                  <a:srgbClr val="8B949E"/>
                </a:solidFill>
                <a:latin typeface="Calibri"/>
              </a:rPr>
              <a:t>—  Out of 100 — contributes 20%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22D3EE"/>
                </a:solidFill>
                <a:latin typeface="Courier New"/>
              </a:rPr>
              <a:t>  finalMarks  </a:t>
            </a:r>
            <a:r>
              <a:rPr sz="1200">
                <a:solidFill>
                  <a:srgbClr val="8B949E"/>
                </a:solidFill>
                <a:latin typeface="Calibri"/>
              </a:rPr>
              <a:t>—  Out of 100 — contributes 40%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22D3EE"/>
                </a:solidFill>
                <a:latin typeface="Courier New"/>
              </a:rPr>
              <a:t>  projectMarks  </a:t>
            </a:r>
            <a:r>
              <a:rPr sz="1200">
                <a:solidFill>
                  <a:srgbClr val="8B949E"/>
                </a:solidFill>
                <a:latin typeface="Calibri"/>
              </a:rPr>
              <a:t>—  Out of 100 — contributes 20%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22D3EE"/>
                </a:solidFill>
                <a:latin typeface="Courier New"/>
              </a:rPr>
              <a:t>  isCompleted  </a:t>
            </a:r>
            <a:r>
              <a:rPr sz="1200">
                <a:solidFill>
                  <a:srgbClr val="8B949E"/>
                </a:solidFill>
                <a:latin typeface="Calibri"/>
              </a:rPr>
              <a:t>—  Flag for transcript filtering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2377440"/>
            <a:ext cx="5879592" cy="4251960"/>
          </a:xfrm>
          <a:prstGeom prst="rect">
            <a:avLst/>
          </a:prstGeom>
          <a:solidFill>
            <a:srgbClr val="161B22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0" y="2377440"/>
            <a:ext cx="64008" cy="42519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26480" y="24688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Calibri"/>
              </a:rPr>
              <a:t>Key Public Methods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880360"/>
            <a:ext cx="5577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1">
                <a:solidFill>
                  <a:srgbClr val="10B981"/>
                </a:solidFill>
                <a:latin typeface="Courier New"/>
              </a:rPr>
              <a:t>  calculateTotalMarks()  </a:t>
            </a:r>
            <a:r>
              <a:rPr sz="1200">
                <a:solidFill>
                  <a:srgbClr val="8B949E"/>
                </a:solidFill>
                <a:latin typeface="Calibri"/>
              </a:rPr>
              <a:t>—  Delegates to GradeCalculator singleton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10B981"/>
                </a:solidFill>
                <a:latin typeface="Courier New"/>
              </a:rPr>
              <a:t>  calculatePercentage()  </a:t>
            </a:r>
            <a:r>
              <a:rPr sz="1200">
                <a:solidFill>
                  <a:srgbClr val="8B949E"/>
                </a:solidFill>
                <a:latin typeface="Calibri"/>
              </a:rPr>
              <a:t>—  Returns weighted % score 0–100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10B981"/>
                </a:solidFill>
                <a:latin typeface="Courier New"/>
              </a:rPr>
              <a:t>  getGrade()  </a:t>
            </a:r>
            <a:r>
              <a:rPr sz="1200">
                <a:solidFill>
                  <a:srgbClr val="8B949E"/>
                </a:solidFill>
                <a:latin typeface="Calibri"/>
              </a:rPr>
              <a:t>—  Returns "A+", "A", "B+", ... "F"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10B981"/>
                </a:solidFill>
                <a:latin typeface="Courier New"/>
              </a:rPr>
              <a:t>  getGradePoint()  </a:t>
            </a:r>
            <a:r>
              <a:rPr sz="1200">
                <a:solidFill>
                  <a:srgbClr val="8B949E"/>
                </a:solidFill>
                <a:latin typeface="Calibri"/>
              </a:rPr>
              <a:t>—  Returns GPA value e.g. 3.70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10B981"/>
                </a:solidFill>
                <a:latin typeface="Courier New"/>
              </a:rPr>
              <a:t>  getCategory()  </a:t>
            </a:r>
            <a:r>
              <a:rPr sz="1200">
                <a:solidFill>
                  <a:srgbClr val="8B949E"/>
                </a:solidFill>
                <a:latin typeface="Calibri"/>
              </a:rPr>
              <a:t>—  Returns "Exceptional", "Pass", etc.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10B981"/>
                </a:solidFill>
                <a:latin typeface="Courier New"/>
              </a:rPr>
              <a:t>  displayCourseInfo()  </a:t>
            </a:r>
            <a:r>
              <a:rPr sz="1200">
                <a:solidFill>
                  <a:srgbClr val="8B949E"/>
                </a:solidFill>
                <a:latin typeface="Calibri"/>
              </a:rPr>
              <a:t>—  Prints code, name, credit, status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10B981"/>
                </a:solidFill>
                <a:latin typeface="Courier New"/>
              </a:rPr>
              <a:t>  displayGradeInfo()  </a:t>
            </a:r>
            <a:r>
              <a:rPr sz="1200">
                <a:solidFill>
                  <a:srgbClr val="8B949E"/>
                </a:solidFill>
                <a:latin typeface="Calibri"/>
              </a:rPr>
              <a:t>—  Prints all marks + grade breakdown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10B981"/>
                </a:solidFill>
                <a:latin typeface="Courier New"/>
              </a:rPr>
              <a:t>  isValidMarks(marks)  </a:t>
            </a:r>
            <a:r>
              <a:rPr sz="1200">
                <a:solidFill>
                  <a:srgbClr val="8B949E"/>
                </a:solidFill>
                <a:latin typeface="Calibri"/>
              </a:rPr>
              <a:t>—  Validates 0 ≤ marks ≤ 100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10B981"/>
                </a:solidFill>
                <a:latin typeface="Courier New"/>
              </a:rPr>
              <a:t>  isAllMarksEntered()  </a:t>
            </a:r>
            <a:r>
              <a:rPr sz="1200">
                <a:solidFill>
                  <a:srgbClr val="8B949E"/>
                </a:solidFill>
                <a:latin typeface="Calibri"/>
              </a:rPr>
              <a:t>—  True if all 4 components &gt; 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325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16736"/>
            <a:ext cx="12188952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8600" y="137160"/>
            <a:ext cx="237744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828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SOURCE 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91440"/>
            <a:ext cx="9171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ourier New"/>
              </a:rPr>
              <a:t>Course.cpp</a:t>
            </a:r>
          </a:p>
        </p:txBody>
      </p:sp>
      <p:sp>
        <p:nvSpPr>
          <p:cNvPr id="8" name="Rectangle 7"/>
          <p:cNvSpPr/>
          <p:nvPr/>
        </p:nvSpPr>
        <p:spPr>
          <a:xfrm>
            <a:off x="11548872" y="228600"/>
            <a:ext cx="10972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731752" y="228600"/>
            <a:ext cx="109728" cy="10972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11457432" cy="777240"/>
          </a:xfrm>
          <a:prstGeom prst="rect">
            <a:avLst/>
          </a:prstGeom>
          <a:solidFill>
            <a:srgbClr val="1C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5361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Calibri"/>
              </a:rPr>
              <a:t>Implements: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536192"/>
            <a:ext cx="98115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All methods of the Course class. Relies on GradeCalculator::getInstance() for the actual weighted percentage calculation — Course itself only stores raw marks; it delegates all grade logic to the Singleton.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77440"/>
            <a:ext cx="11457432" cy="1336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2377440"/>
            <a:ext cx="73152" cy="1336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45059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Calibri"/>
              </a:rPr>
              <a:t>Constructors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852928"/>
            <a:ext cx="11091672" cy="78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7C3AED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Course()  →  Default: all fields set to 0/empty/false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7C3AED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Course(code, name, credits)  →  Parameterised: sets identity fields, zeros all marks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04920"/>
            <a:ext cx="11457432" cy="1894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" y="3804920"/>
            <a:ext cx="73152" cy="18948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387807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Calibri"/>
              </a:rPr>
              <a:t>Setters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280408"/>
            <a:ext cx="11091672" cy="134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22D3EE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setCreditHours()  →  Validates range 1-5 before assigning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2D3EE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setAssignmentMarks(), setMidtermMarks(), setFinalMarks(), setProjectMarks()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2D3EE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   Each validates via isValidMarks() before accepting the value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22D3EE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setCompleted()  →  Marks the course as done for filtering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791200"/>
            <a:ext cx="11457432" cy="21742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5791200"/>
            <a:ext cx="73152" cy="2174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586435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Core Calculation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266688"/>
            <a:ext cx="11091672" cy="162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calculateTotalMarks()  →  Calls GradeCalculator::getInstance()-&gt;calculatePercentage()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   Uses Strategy pattern: the active grading strategy does the actual maths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getGrade()  →  Calls GradeCalculator::percentageToGrade(totalMarks)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getGradePoint()  →  Calls GradeCalculator::percentageToGPA(totalMarks)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getCategory()  →  Calls GradeCalculator::percentageToCategory(totalMarks)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8056880"/>
            <a:ext cx="11457432" cy="1615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" y="8056880"/>
            <a:ext cx="73152" cy="1615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813003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  <a:latin typeface="Calibri"/>
              </a:rPr>
              <a:t>Display &amp; 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8532368"/>
            <a:ext cx="11091672" cy="106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FBBF24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displayCourseInfo()  →  Prints code/name/credit/status to console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FBBF24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displayGradeInfo()  →  Full breakdown: each mark, %, grade, GPA, category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FBBF24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isAllMarksEntered()  →  Returns true only if all 4 values &gt; 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3258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16736"/>
            <a:ext cx="12188952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8600" y="137160"/>
            <a:ext cx="2377440" cy="457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828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HEADER 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91440"/>
            <a:ext cx="9171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ourier New"/>
              </a:rPr>
              <a:t>Student.h</a:t>
            </a:r>
          </a:p>
        </p:txBody>
      </p:sp>
      <p:sp>
        <p:nvSpPr>
          <p:cNvPr id="8" name="Rectangle 7"/>
          <p:cNvSpPr/>
          <p:nvPr/>
        </p:nvSpPr>
        <p:spPr>
          <a:xfrm>
            <a:off x="11548872" y="228600"/>
            <a:ext cx="109728" cy="10972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731752" y="228600"/>
            <a:ext cx="109728" cy="10972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11457432" cy="777240"/>
          </a:xfrm>
          <a:prstGeom prst="rect">
            <a:avLst/>
          </a:prstGeom>
          <a:solidFill>
            <a:srgbClr val="1C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5361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Calibri"/>
              </a:rPr>
              <a:t>Purpose: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536192"/>
            <a:ext cx="98115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Declares the Student class — the top-level aggregate entity. Owns a vector&lt;Course&gt;, stores identity info (roll no, name, email) plus previous CGPA context, and exposes full GPA/CGPA calculation and report display methods.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77440"/>
            <a:ext cx="5212080" cy="4251960"/>
          </a:xfrm>
          <a:prstGeom prst="rect">
            <a:avLst/>
          </a:prstGeom>
          <a:solidFill>
            <a:srgbClr val="161B22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2377440"/>
            <a:ext cx="64008" cy="42519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4688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Calibri"/>
              </a:rPr>
              <a:t>Private Members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88036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b="1">
                <a:solidFill>
                  <a:srgbClr val="22D3EE"/>
                </a:solidFill>
                <a:latin typeface="Courier New"/>
              </a:rPr>
              <a:t>  rollNo  </a:t>
            </a:r>
            <a:r>
              <a:rPr sz="1200">
                <a:solidFill>
                  <a:srgbClr val="8B949E"/>
                </a:solidFill>
                <a:latin typeface="Calibri"/>
              </a:rPr>
              <a:t>—  Unique student identifier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22D3EE"/>
                </a:solidFill>
                <a:latin typeface="Courier New"/>
              </a:rPr>
              <a:t>  name  </a:t>
            </a:r>
            <a:r>
              <a:rPr sz="1200">
                <a:solidFill>
                  <a:srgbClr val="8B949E"/>
                </a:solidFill>
                <a:latin typeface="Calibri"/>
              </a:rPr>
              <a:t>—  Full student name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22D3EE"/>
                </a:solidFill>
                <a:latin typeface="Courier New"/>
              </a:rPr>
              <a:t>  email  </a:t>
            </a:r>
            <a:r>
              <a:rPr sz="1200">
                <a:solidFill>
                  <a:srgbClr val="8B949E"/>
                </a:solidFill>
                <a:latin typeface="Calibri"/>
              </a:rPr>
              <a:t>—  Validated via regex pattern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22D3EE"/>
                </a:solidFill>
                <a:latin typeface="Courier New"/>
              </a:rPr>
              <a:t>  courses  </a:t>
            </a:r>
            <a:r>
              <a:rPr sz="1200">
                <a:solidFill>
                  <a:srgbClr val="8B949E"/>
                </a:solidFill>
                <a:latin typeface="Calibri"/>
              </a:rPr>
              <a:t>—  vector&lt;Course&gt; — up to 10 courses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22D3EE"/>
                </a:solidFill>
                <a:latin typeface="Courier New"/>
              </a:rPr>
              <a:t>  currentCGPA  </a:t>
            </a:r>
            <a:r>
              <a:rPr sz="1200">
                <a:solidFill>
                  <a:srgbClr val="8B949E"/>
                </a:solidFill>
                <a:latin typeface="Calibri"/>
              </a:rPr>
              <a:t>—  Accumulated CGPA from prior semesters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22D3EE"/>
                </a:solidFill>
                <a:latin typeface="Courier New"/>
              </a:rPr>
              <a:t>  totalCreditHoursPassed  </a:t>
            </a:r>
            <a:r>
              <a:rPr sz="1200">
                <a:solidFill>
                  <a:srgbClr val="8B949E"/>
                </a:solidFill>
                <a:latin typeface="Calibri"/>
              </a:rPr>
              <a:t>—  Credits completed before this semester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22D3EE"/>
                </a:solidFill>
                <a:latin typeface="Courier New"/>
              </a:rPr>
              <a:t>  semesterNumber  </a:t>
            </a:r>
            <a:r>
              <a:rPr sz="1200">
                <a:solidFill>
                  <a:srgbClr val="8B949E"/>
                </a:solidFill>
                <a:latin typeface="Calibri"/>
              </a:rPr>
              <a:t>—  Current semester (1-based)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2377440"/>
            <a:ext cx="5879592" cy="4251960"/>
          </a:xfrm>
          <a:prstGeom prst="rect">
            <a:avLst/>
          </a:prstGeom>
          <a:solidFill>
            <a:srgbClr val="161B22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0" y="2377440"/>
            <a:ext cx="64008" cy="4251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26480" y="24688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Calibri"/>
              </a:rPr>
              <a:t>Key Public Methods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880360"/>
            <a:ext cx="5577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0B981"/>
                </a:solidFill>
                <a:latin typeface="Courier New"/>
              </a:rPr>
              <a:t>  addCourse(course)  </a:t>
            </a:r>
            <a:r>
              <a:rPr sz="1200">
                <a:solidFill>
                  <a:srgbClr val="8B949E"/>
                </a:solidFill>
                <a:latin typeface="Calibri"/>
              </a:rPr>
              <a:t>—  Checks limits &amp; duplicate code before adding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0B981"/>
                </a:solidFill>
                <a:latin typeface="Courier New"/>
              </a:rPr>
              <a:t>  removeCourse(index)  </a:t>
            </a:r>
            <a:r>
              <a:rPr sz="1200">
                <a:solidFill>
                  <a:srgbClr val="8B949E"/>
                </a:solidFill>
                <a:latin typeface="Calibri"/>
              </a:rPr>
              <a:t>—  Erases from vector by index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0B981"/>
                </a:solidFill>
                <a:latin typeface="Courier New"/>
              </a:rPr>
              <a:t>  calculateSemesterGPA()  </a:t>
            </a:r>
            <a:r>
              <a:rPr sz="1200">
                <a:solidFill>
                  <a:srgbClr val="8B949E"/>
                </a:solidFill>
                <a:latin typeface="Calibri"/>
              </a:rPr>
              <a:t>—  Σ(GPA × credits) / Σcredits for this semester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0B981"/>
                </a:solidFill>
                <a:latin typeface="Courier New"/>
              </a:rPr>
              <a:t>  calculateCGPA()  </a:t>
            </a:r>
            <a:r>
              <a:rPr sz="1200">
                <a:solidFill>
                  <a:srgbClr val="8B949E"/>
                </a:solidFill>
                <a:latin typeface="Calibri"/>
              </a:rPr>
              <a:t>—  Blends prior CGPA with new semester GPA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0B981"/>
                </a:solidFill>
                <a:latin typeface="Courier New"/>
              </a:rPr>
              <a:t>  calculateTotalGradePoints()  </a:t>
            </a:r>
            <a:r>
              <a:rPr sz="1200">
                <a:solidFill>
                  <a:srgbClr val="8B949E"/>
                </a:solidFill>
                <a:latin typeface="Calibri"/>
              </a:rPr>
              <a:t>—  Sum of grade_point × credit for all courses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0B981"/>
                </a:solidFill>
                <a:latin typeface="Courier New"/>
              </a:rPr>
              <a:t>  displayTranscript()  </a:t>
            </a:r>
            <a:r>
              <a:rPr sz="1200">
                <a:solidFill>
                  <a:srgbClr val="8B949E"/>
                </a:solidFill>
                <a:latin typeface="Calibri"/>
              </a:rPr>
              <a:t>—  Student info + all courses + GPA summary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0B981"/>
                </a:solidFill>
                <a:latin typeface="Courier New"/>
              </a:rPr>
              <a:t>  displaySemesterSummary()  </a:t>
            </a:r>
            <a:r>
              <a:rPr sz="1200">
                <a:solidFill>
                  <a:srgbClr val="8B949E"/>
                </a:solidFill>
                <a:latin typeface="Calibri"/>
              </a:rPr>
              <a:t>—  Semester-level breakdown table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0B981"/>
                </a:solidFill>
                <a:latin typeface="Courier New"/>
              </a:rPr>
              <a:t>  displayDetailedReport()  </a:t>
            </a:r>
            <a:r>
              <a:rPr sz="1200">
                <a:solidFill>
                  <a:srgbClr val="8B949E"/>
                </a:solidFill>
                <a:latin typeface="Calibri"/>
              </a:rPr>
              <a:t>—  Per-course assessment breakdown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0B981"/>
                </a:solidFill>
                <a:latin typeface="Courier New"/>
              </a:rPr>
              <a:t>  isValidEmail(email)  </a:t>
            </a:r>
            <a:r>
              <a:rPr sz="1200">
                <a:solidFill>
                  <a:srgbClr val="8B949E"/>
                </a:solidFill>
                <a:latin typeface="Calibri"/>
              </a:rPr>
              <a:t>—  Regex: user@domain.ext validation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0B981"/>
                </a:solidFill>
                <a:latin typeface="Courier New"/>
              </a:rPr>
              <a:t>  isCourseCodeExists(code)  </a:t>
            </a:r>
            <a:r>
              <a:rPr sz="1200">
                <a:solidFill>
                  <a:srgbClr val="8B949E"/>
                </a:solidFill>
                <a:latin typeface="Calibri"/>
              </a:rPr>
              <a:t>—  Prevents duplicate course enrolment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3258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16736"/>
            <a:ext cx="12188952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8600" y="137160"/>
            <a:ext cx="2377440" cy="457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828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SOURCE 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91440"/>
            <a:ext cx="9171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ourier New"/>
              </a:rPr>
              <a:t>Student.cpp</a:t>
            </a:r>
          </a:p>
        </p:txBody>
      </p:sp>
      <p:sp>
        <p:nvSpPr>
          <p:cNvPr id="8" name="Rectangle 7"/>
          <p:cNvSpPr/>
          <p:nvPr/>
        </p:nvSpPr>
        <p:spPr>
          <a:xfrm>
            <a:off x="11548872" y="228600"/>
            <a:ext cx="109728" cy="10972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731752" y="228600"/>
            <a:ext cx="109728" cy="10972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11457432" cy="731520"/>
          </a:xfrm>
          <a:prstGeom prst="rect">
            <a:avLst/>
          </a:prstGeom>
          <a:solidFill>
            <a:srgbClr val="1C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5361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Calibri"/>
              </a:rPr>
              <a:t>Implements: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536192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All Student methods. Uses &lt;regex&gt; for email validation, &lt;algorithm&gt; for course search, and &lt;iomanip&gt; for formatted table output. The GPA calculation is pure arithmetic — no external dependency.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31720"/>
            <a:ext cx="11457432" cy="1701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2331720"/>
            <a:ext cx="73152" cy="1701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4048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Calibri"/>
              </a:rPr>
              <a:t>Course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788920"/>
            <a:ext cx="11091672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22D3EE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addCourse()  →  Guards: (1) size &lt; MAX_COURSES_PER_STUDENT, (2) no duplicate course code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2D3EE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removeCourse(index)  →  Uses vector::erase with bounds check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2D3EE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getCourse(index) — two overloads: mutable (for mark entry) and const (for reports)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2D3EE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isCourseCodeExists()  →  Linear scan; prevents two CS-201 entries in one semester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106672"/>
            <a:ext cx="11457432" cy="1701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" y="4106672"/>
            <a:ext cx="73152" cy="1701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417982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Calibri"/>
              </a:rPr>
              <a:t>GPA / CGPA Calculation Logic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563872"/>
            <a:ext cx="11091672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7C3AED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calculateSemesterGPA()  →  Σ(course.getGradePoint() × course.getCreditHours()) / Σcredits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7C3AED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calculateTotalGradePoints()  →  Raw sum for CGPA blend, iterates all courses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7C3AED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calculateTotalCreditHours()  →  Only counts courses where isCompleted == true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7C3AED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calculateCGPA()  →  (prevCGPA×prevCredits + semGradePoints) / (prevCredits + semCredits)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881624"/>
            <a:ext cx="11457432" cy="1701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5881624"/>
            <a:ext cx="73152" cy="1701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595477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Display / Report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338824"/>
            <a:ext cx="11091672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displayStudentInfo()  →  Prints roll no, name, email, semester, course count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displayAllCourses()  →  Formatted table: Code | Name | Credits | % | Grade | GPA | Category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displayTranscript()  →  Calls displayStudentInfo + displayAllCourses + GPA summary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displayDetailedReport()  →  Full transcript + per-course displayCourseInfo/displayGradeInfo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7656576"/>
            <a:ext cx="11457432" cy="1447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" y="7656576"/>
            <a:ext cx="73152" cy="1447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77297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  <a:latin typeface="Calibri"/>
              </a:rPr>
              <a:t>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8113776"/>
            <a:ext cx="11091672" cy="94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FBBF24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isValidEmail()  →  std::regex match against r"[a-zA-Z0-9._%+-]+@[a-zA-Z0-9.-]+\.[a-zA-Z]{2,}"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FBBF24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findCourseByCode()  →  Returns index or -1; used by UI layer to locate courses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FBBF24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clearAllCourses()  →  Empties the courses vector (used on student reset)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325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16736"/>
            <a:ext cx="12188952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8600" y="137160"/>
            <a:ext cx="237744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828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HEADER 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91440"/>
            <a:ext cx="9171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ourier New"/>
              </a:rPr>
              <a:t>GradeCalculator.h</a:t>
            </a:r>
          </a:p>
        </p:txBody>
      </p:sp>
      <p:sp>
        <p:nvSpPr>
          <p:cNvPr id="8" name="Rectangle 7"/>
          <p:cNvSpPr/>
          <p:nvPr/>
        </p:nvSpPr>
        <p:spPr>
          <a:xfrm>
            <a:off x="11548872" y="228600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731752" y="228600"/>
            <a:ext cx="109728" cy="10972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11457432" cy="777240"/>
          </a:xfrm>
          <a:prstGeom prst="rect">
            <a:avLst/>
          </a:prstGeom>
          <a:solidFill>
            <a:srgbClr val="1C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5361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Purpose: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536192"/>
            <a:ext cx="98115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Declares THREE classes implementing two design patterns: (1) Strategy pattern — GradingStrategy abstract interface + two concrete strategies; (2) Singleton pattern — GradeCalculator as the single global calculator object.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77440"/>
            <a:ext cx="3566160" cy="4297680"/>
          </a:xfrm>
          <a:prstGeom prst="rect">
            <a:avLst/>
          </a:prstGeom>
          <a:solidFill>
            <a:srgbClr val="161B22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2377440"/>
            <a:ext cx="356616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2514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Courier New"/>
              </a:rPr>
              <a:t>GradingStrategy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94436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B949E"/>
                </a:solidFill>
                <a:latin typeface="Calibri"/>
              </a:rPr>
              <a:t>Abstract Interface (Strategy Pattern)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291840"/>
            <a:ext cx="3291840" cy="1905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3429000"/>
            <a:ext cx="3291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7C3AED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Pure virtual: calculatePercentage(assignment, midterm, final, project)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7C3AED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Pure virtual: getStrategyName()  →  returns algorithm name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7C3AED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Virtual destructor for safe polymorphic cleanup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7C3AED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Cannot be instantiated directly — defines the contract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2377440"/>
            <a:ext cx="3566160" cy="4297680"/>
          </a:xfrm>
          <a:prstGeom prst="rect">
            <a:avLst/>
          </a:prstGeom>
          <a:solidFill>
            <a:srgbClr val="161B22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06240" y="2377440"/>
            <a:ext cx="3566160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43400" y="2514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Courier New"/>
              </a:rPr>
              <a:t>WeightedAverageStrategy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294436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B949E"/>
                </a:solidFill>
                <a:latin typeface="Calibri"/>
              </a:rPr>
              <a:t>Concrete Strategy #1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3291840"/>
            <a:ext cx="3291840" cy="190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43400" y="3429000"/>
            <a:ext cx="3291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22D3EE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Implements: assignment×0.20 + midterm×0.20 + final×0.40 + project×0.20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22D3EE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Returns "Weighted Average (Standard)" as name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22D3EE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DEFAULT strategy — selected at GradeCalculator construction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22D3EE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No curve applied; straight weighted formula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2377440"/>
            <a:ext cx="3566160" cy="4297680"/>
          </a:xfrm>
          <a:prstGeom prst="rect">
            <a:avLst/>
          </a:prstGeom>
          <a:solidFill>
            <a:srgbClr val="161B22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46720" y="2377440"/>
            <a:ext cx="3566160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83880" y="2514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  <a:latin typeface="Courier New"/>
              </a:rPr>
              <a:t>AdjustedGradingStrategy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294436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B949E"/>
                </a:solidFill>
                <a:latin typeface="Calibri"/>
              </a:rPr>
              <a:t>Concrete Strategy #2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80" y="3291840"/>
            <a:ext cx="3291840" cy="1905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83880" y="3429000"/>
            <a:ext cx="3291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FBBF24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Same weighted formula as #1, THEN adds +5% curve if final &gt; 80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FBBF24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Capped at 100% maximum via std::min(base + 5, 100)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FBBF24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Returns "Adjusted Grading (With Curve)" as name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FBBF24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Switchable at runtime via GradeCalculator::setGradingStrategy()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6492240"/>
            <a:ext cx="11457432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6537960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GradeCalculator  →  Singleton: private constructor, static instance*, deleted copy/assignment, getInstance() returns shared object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325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16736"/>
            <a:ext cx="12188952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8600" y="137160"/>
            <a:ext cx="237744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828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SOURCE 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91440"/>
            <a:ext cx="9171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ourier New"/>
              </a:rPr>
              <a:t>GradeCalculator.cpp</a:t>
            </a:r>
          </a:p>
        </p:txBody>
      </p:sp>
      <p:sp>
        <p:nvSpPr>
          <p:cNvPr id="8" name="Rectangle 7"/>
          <p:cNvSpPr/>
          <p:nvPr/>
        </p:nvSpPr>
        <p:spPr>
          <a:xfrm>
            <a:off x="11548872" y="228600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731752" y="228600"/>
            <a:ext cx="109728" cy="10972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11457432" cy="731520"/>
          </a:xfrm>
          <a:prstGeom prst="rect">
            <a:avLst/>
          </a:prstGeom>
          <a:solidFill>
            <a:srgbClr val="1C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5361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Implements: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536192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The Strategy pair and the Singleton GradeCalculator. Uses &lt;cmath&gt; for std::min (curve cap). All if-else chains for grade conversion use the constants from Constants.h directly.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31720"/>
            <a:ext cx="11457432" cy="11663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2331720"/>
            <a:ext cx="73152" cy="11663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4048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Calibri"/>
              </a:rPr>
              <a:t>Strategy Implementations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788920"/>
            <a:ext cx="11091672" cy="663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7C3AED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WeightedAverageStrategy::calculatePercentage()  →  4-term weighted sum using Constants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7C3AED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AdjustedGradingStrategy::calculatePercentage()  →  Same sum, then if(final&gt;80) adds 5.0, capped via std::min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571240"/>
            <a:ext cx="11457432" cy="19283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" y="3571240"/>
            <a:ext cx="73152" cy="19283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364439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Singleton Lifecycle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028440"/>
            <a:ext cx="11091672" cy="142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static GradeCalculator* instance = nullptr  →  starts null at program load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GradeCalculator()  private constructor  →  creates a WeightedAverageStrategy on heap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getInstance()  →  lazy init: if(instance==nullptr) instance=new GradeCalculator()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~GradeCalculator()  →  deletes currentStrategy to prevent memory leak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setGradingStrategy(strategy)  →  deletes old strategy, assigns new one, confirms via cout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572760"/>
            <a:ext cx="11457432" cy="14203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5572760"/>
            <a:ext cx="73152" cy="142036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564591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Calibri"/>
              </a:rPr>
              <a:t>Grade Conversion Methods (if-else chains on Constants)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029960"/>
            <a:ext cx="11091672" cy="917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22D3EE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percentageToGrade(%)  →  returns "A+" | "A" | "B+" | "B" | "B-" | "C+" | "C" | "D" | "F"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2D3EE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percentageToGPA(%)    →  returns 4.00 | 3.70 | 3.40 | 3.00 | 2.50 | 2.00 | 1.50 | 1.00 | 0.00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2D3EE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percentageToCategory(%)  →  "Exceptional" | "Outstanding" | "Excellent" | "Very Good" | ... | "Fail"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7066280"/>
            <a:ext cx="11457432" cy="14203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" y="7066280"/>
            <a:ext cx="73152" cy="14203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71394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  <a:latin typeface="Calibri"/>
              </a:rPr>
              <a:t>Utility Methods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7523480"/>
            <a:ext cx="11091672" cy="917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FBBF24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displayGradingTable()  →  Prints full 9-row grading table to console (used in settings menu)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FBBF24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displayAvailableStrategies()  →  Lists the two strategy names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FBBF24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getGradeDescription(grade)  →  Returns human-readable description of a letter grade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3258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16736"/>
            <a:ext cx="12188952" cy="381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8600" y="137160"/>
            <a:ext cx="2377440" cy="4572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828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HEADER 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91440"/>
            <a:ext cx="9171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ourier New"/>
              </a:rPr>
              <a:t>ReportGenerator.h</a:t>
            </a:r>
          </a:p>
        </p:txBody>
      </p:sp>
      <p:sp>
        <p:nvSpPr>
          <p:cNvPr id="8" name="Rectangle 7"/>
          <p:cNvSpPr/>
          <p:nvPr/>
        </p:nvSpPr>
        <p:spPr>
          <a:xfrm>
            <a:off x="11548872" y="228600"/>
            <a:ext cx="109728" cy="10972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731752" y="228600"/>
            <a:ext cx="109728" cy="10972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11457432" cy="777240"/>
          </a:xfrm>
          <a:prstGeom prst="rect">
            <a:avLst/>
          </a:prstGeom>
          <a:solidFill>
            <a:srgbClr val="1C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5361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C4899"/>
                </a:solidFill>
                <a:latin typeface="Calibri"/>
              </a:rPr>
              <a:t>Purpose: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536192"/>
            <a:ext cx="98115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Declares FOUR classes implementing two patterns: (1) Polymorphic Report hierarchy — abstract Report base + 4 concrete types; (2) Factory pattern — ReportFactory creates report objects by type; plus a Facade class (ReportManager) for simplified access.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77440"/>
            <a:ext cx="2651760" cy="3200400"/>
          </a:xfrm>
          <a:prstGeom prst="rect">
            <a:avLst/>
          </a:prstGeom>
          <a:solidFill>
            <a:srgbClr val="161B22"/>
          </a:solidFill>
          <a:ln w="1016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2377440"/>
            <a:ext cx="2651760" cy="6400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" y="25146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C4899"/>
                </a:solidFill>
                <a:latin typeface="Courier New"/>
              </a:rPr>
              <a:t>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94436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  <a:latin typeface="Calibri"/>
              </a:rPr>
              <a:t>Abstract 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3291840"/>
            <a:ext cx="2468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EC4899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Pure virtual: generate(const Student&amp;)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EC4899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Pure virtual: getReportType() → string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EC4899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Virtual destructor for safe delete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2377440"/>
            <a:ext cx="2651760" cy="3200400"/>
          </a:xfrm>
          <a:prstGeom prst="rect">
            <a:avLst/>
          </a:prstGeom>
          <a:solidFill>
            <a:srgbClr val="161B22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00400" y="2377440"/>
            <a:ext cx="265176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10128" y="25146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ourier New"/>
              </a:rPr>
              <a:t>TranscriptReport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128" y="294436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  <a:latin typeface="Calibri"/>
              </a:rPr>
              <a:t>Concrete #1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0128" y="3291840"/>
            <a:ext cx="2468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7C3AED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Generates full academic transcript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7C3AED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Shows all courses + GPA + CGPA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7C3AED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getReportType() = "Academic Transcript"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2377440"/>
            <a:ext cx="2651760" cy="3200400"/>
          </a:xfrm>
          <a:prstGeom prst="rect">
            <a:avLst/>
          </a:prstGeom>
          <a:solidFill>
            <a:srgbClr val="161B22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035040" y="2377440"/>
            <a:ext cx="2651760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44768" y="25146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Courier New"/>
              </a:rPr>
              <a:t>SemesterGradeReport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294436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  <a:latin typeface="Calibri"/>
              </a:rPr>
              <a:t>Concrete #2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44768" y="3291840"/>
            <a:ext cx="2468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22D3EE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Semester-specific grade table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22D3EE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Computes GPA from current courses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22D3EE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getReportType() = "Semester Grade Report"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69680" y="2377440"/>
            <a:ext cx="2651760" cy="3200400"/>
          </a:xfrm>
          <a:prstGeom prst="rect">
            <a:avLst/>
          </a:prstGeom>
          <a:solidFill>
            <a:srgbClr val="161B22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869680" y="2377440"/>
            <a:ext cx="265176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979408" y="25146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ourier New"/>
              </a:rPr>
              <a:t>CGPAProgressReport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79408" y="294436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  <a:latin typeface="Calibri"/>
              </a:rPr>
              <a:t>Concrete #3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79408" y="3291840"/>
            <a:ext cx="2468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10B981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Shows old vs new CGPA comparison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10B981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Indicates IMPROVED/DECLINED change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10B981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getReportType() = "CGPA Progress Report"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715000"/>
            <a:ext cx="5394960" cy="1005840"/>
          </a:xfrm>
          <a:prstGeom prst="rect">
            <a:avLst/>
          </a:prstGeom>
          <a:solidFill>
            <a:srgbClr val="161B22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65760" y="5715000"/>
            <a:ext cx="64008" cy="10058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57790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Calibri"/>
              </a:rPr>
              <a:t>ReportFactory  (Factory Pattern)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14476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static createReport(ReportType)  →  returns new Transcript|Semester|CGPA|Detailed object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5715000"/>
            <a:ext cx="5696712" cy="1005840"/>
          </a:xfrm>
          <a:prstGeom prst="rect">
            <a:avLst/>
          </a:prstGeom>
          <a:solidFill>
            <a:srgbClr val="161B22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126480" y="5715000"/>
            <a:ext cx="64008" cy="10058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09360" y="577900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Calibri"/>
              </a:rPr>
              <a:t>ReportManager  (Facade Pattern)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614476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generateAndDisplayReport(student, type)  |  generateAllReports(student)  — one-call simplification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3258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16736"/>
            <a:ext cx="12188952" cy="381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8600" y="137160"/>
            <a:ext cx="2377440" cy="4572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828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SOURCE 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91440"/>
            <a:ext cx="9171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ourier New"/>
              </a:rPr>
              <a:t>ReportGenerator.cpp</a:t>
            </a:r>
          </a:p>
        </p:txBody>
      </p:sp>
      <p:sp>
        <p:nvSpPr>
          <p:cNvPr id="8" name="Rectangle 7"/>
          <p:cNvSpPr/>
          <p:nvPr/>
        </p:nvSpPr>
        <p:spPr>
          <a:xfrm>
            <a:off x="11548872" y="228600"/>
            <a:ext cx="109728" cy="10972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731752" y="228600"/>
            <a:ext cx="109728" cy="10972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11457432" cy="731520"/>
          </a:xfrm>
          <a:prstGeom prst="rect">
            <a:avLst/>
          </a:prstGeom>
          <a:solidFill>
            <a:srgbClr val="1C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5361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C4899"/>
                </a:solidFill>
                <a:latin typeface="Calibri"/>
              </a:rPr>
              <a:t>Implements: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536192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All four concrete report types plus the Factory and Facade. Each generate() method calls Student's const methods — no raw data access. ReportManager is stateless (all static methods) making it thread-safe by design.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31720"/>
            <a:ext cx="11457432" cy="13822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2331720"/>
            <a:ext cx="73152" cy="13822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4048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ourier New"/>
              </a:rPr>
              <a:t>TranscriptReport::generate()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788920"/>
            <a:ext cx="11091672" cy="879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7C3AED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Prints header banner + student.displayStudentInfo()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7C3AED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Calls student.displayAllCourses()  →  full table with all courses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7C3AED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Prints: Semester GPA, Previous CGPA, Previous Credits, Updated CGPA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787140"/>
            <a:ext cx="11457432" cy="16235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" y="3787140"/>
            <a:ext cx="73152" cy="162356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386029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Courier New"/>
              </a:rPr>
              <a:t>SemesterGradeReport::generate()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244340"/>
            <a:ext cx="11091672" cy="1120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22D3EE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Prints semester number + student name/roll header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2D3EE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Iterates all courses: manually accumulates totalGradePoints and totalCredits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2D3EE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Prints formatted row per course: Code | Name | Marks% | Grade | GPA | Category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2D3EE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Footer: Semester GPA = totalGradePoints / totalCredits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483860"/>
            <a:ext cx="11457432" cy="13822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5483860"/>
            <a:ext cx="73152" cy="13822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555701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ourier New"/>
              </a:rPr>
              <a:t>CGPAProgressReport::generate()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941060"/>
            <a:ext cx="11091672" cy="879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Shows previous CGPA, previous credits, new semester GPA, new semester credits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Calculates difference = newCGPA - prevCGPA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Prints IMPROVED if difference &gt; 0, DECLINED if &lt; 0, NO CHANGE if = 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6939280"/>
            <a:ext cx="11457432" cy="16235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" y="6939280"/>
            <a:ext cx="73152" cy="16235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70124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Courier New"/>
              </a:rPr>
              <a:t>DetailedAnalysisReport::generate()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7396480"/>
            <a:ext cx="11091672" cy="1120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FBBF24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For each course: code, name, credits + full assessment breakdown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FBBF24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Shows Assignment/Midterm/Final/Project raw marks with weights (/100  20%)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FBBF24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Per-course: overall %, grade letter, GPA points, category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FBBF24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Footer: Semester GPA + CGPA summary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8636000"/>
            <a:ext cx="11457432" cy="13822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65760" y="8636000"/>
            <a:ext cx="73152" cy="138226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870915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C4899"/>
                </a:solidFill>
                <a:latin typeface="Courier New"/>
              </a:rPr>
              <a:t>ReportFactory::createReport() + ReportManager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9093200"/>
            <a:ext cx="11091672" cy="879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EC4899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Factory: switch(type) → new TranscriptReport | SemesterGradeReport | CGPAProgressReport | DetailedAnalysisReport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C4899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generateAndDisplayReport()  →  creates report, calls generate(), then deletes it (no leak)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C4899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generateAllReports()  →  calls generateAndDisplayReport() four times in order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3258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16736"/>
            <a:ext cx="12188952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8600" y="137160"/>
            <a:ext cx="2377440" cy="4572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828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HEADER 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91440"/>
            <a:ext cx="9171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ourier New"/>
              </a:rPr>
              <a:t>GradeObserver.h</a:t>
            </a:r>
          </a:p>
        </p:txBody>
      </p:sp>
      <p:sp>
        <p:nvSpPr>
          <p:cNvPr id="8" name="Rectangle 7"/>
          <p:cNvSpPr/>
          <p:nvPr/>
        </p:nvSpPr>
        <p:spPr>
          <a:xfrm>
            <a:off x="11548872" y="228600"/>
            <a:ext cx="109728" cy="10972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731752" y="228600"/>
            <a:ext cx="109728" cy="10972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11457432" cy="777240"/>
          </a:xfrm>
          <a:prstGeom prst="rect">
            <a:avLst/>
          </a:prstGeom>
          <a:solidFill>
            <a:srgbClr val="1C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5361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  <a:latin typeface="Calibri"/>
              </a:rPr>
              <a:t>Purpose: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536192"/>
            <a:ext cx="98115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Implements the full Observer (Publish-Subscribe) pattern for grade notifications. Declares the Observer interface, two concrete observers, the Subject (GradeSubject), and a Singleton notifier (GradeChangeNotifier) that orchestrates everything.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77440"/>
            <a:ext cx="2651760" cy="3108960"/>
          </a:xfrm>
          <a:prstGeom prst="rect">
            <a:avLst/>
          </a:prstGeom>
          <a:solidFill>
            <a:srgbClr val="161B22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2377440"/>
            <a:ext cx="2651760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" y="25146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Courier New"/>
              </a:rPr>
              <a:t>Observer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94436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  <a:latin typeface="Calibri"/>
              </a:rPr>
              <a:t>Abstract Interface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3337560"/>
            <a:ext cx="2468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FBBF24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Pure virtual: update(courseName, gpa, category)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FBBF24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Implemented by every concrete notification type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2377440"/>
            <a:ext cx="2651760" cy="3108960"/>
          </a:xfrm>
          <a:prstGeom prst="rect">
            <a:avLst/>
          </a:prstGeom>
          <a:solidFill>
            <a:srgbClr val="161B22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00400" y="2377440"/>
            <a:ext cx="2651760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10128" y="25146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Courier New"/>
              </a:rPr>
              <a:t>AlertNotification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128" y="294436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  <a:latin typeface="Calibri"/>
              </a:rPr>
              <a:t>Concrete Observer #1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0128" y="3337560"/>
            <a:ext cx="2468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F97316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Prints WARNING if gpa &lt; LOW_GRADE_THRESHOLD (2.0)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F97316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Prints Congratulations if gpa &gt;= HIGH_GRADE_THRESHOLD (3.7)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F97316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observerName stored for identification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2377440"/>
            <a:ext cx="2651760" cy="3108960"/>
          </a:xfrm>
          <a:prstGeom prst="rect">
            <a:avLst/>
          </a:prstGeom>
          <a:solidFill>
            <a:srgbClr val="161B22"/>
          </a:solidFill>
          <a:ln w="1016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035040" y="2377440"/>
            <a:ext cx="2651760" cy="6400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44768" y="25146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C4899"/>
                </a:solidFill>
                <a:latin typeface="Courier New"/>
              </a:rPr>
              <a:t>PerformanceLogger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294436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  <a:latin typeface="Calibri"/>
              </a:rPr>
              <a:t>Concrete Observer #2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44768" y="3337560"/>
            <a:ext cx="2468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EC4899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Logs every grade update with [LOG] prefix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EC4899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Records courseName, GPA value, and category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69680" y="2377440"/>
            <a:ext cx="2651760" cy="3108960"/>
          </a:xfrm>
          <a:prstGeom prst="rect">
            <a:avLst/>
          </a:prstGeom>
          <a:solidFill>
            <a:srgbClr val="161B22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869680" y="2377440"/>
            <a:ext cx="265176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979408" y="25146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ourier New"/>
              </a:rPr>
              <a:t>GradeSubject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79408" y="294436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  <a:latin typeface="Calibri"/>
              </a:rPr>
              <a:t>Observable (Subject)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79408" y="3337560"/>
            <a:ext cx="2468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10B981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Holds vector&lt;Observer*&gt; observers list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10B981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attach() / detach() manage subscriptions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10B981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notify() calls update() on every observer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669280"/>
            <a:ext cx="11457432" cy="1051560"/>
          </a:xfrm>
          <a:prstGeom prst="rect">
            <a:avLst/>
          </a:prstGeom>
          <a:solidFill>
            <a:srgbClr val="161B22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65760" y="5669280"/>
            <a:ext cx="64008" cy="1051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574243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Calibri"/>
              </a:rPr>
              <a:t>GradeChangeNotifier  (Singleton + Orchestrator)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108192"/>
            <a:ext cx="112745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100">
                <a:solidFill>
                  <a:srgbClr val="7C3AED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Singleton: private constructor, static instance*, deleted copy/assignment</a:t>
            </a:r>
          </a:p>
          <a:p>
            <a:pPr>
              <a:spcBef>
                <a:spcPts val="0"/>
              </a:spcBef>
            </a:pPr>
            <a:r>
              <a:rPr sz="1100">
                <a:solidFill>
                  <a:srgbClr val="7C3AED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subscribeLowGradeAlert()  →  attaches AlertNotification to GradeSubject</a:t>
            </a:r>
          </a:p>
          <a:p>
            <a:pPr>
              <a:spcBef>
                <a:spcPts val="0"/>
              </a:spcBef>
            </a:pPr>
            <a:r>
              <a:rPr sz="1100">
                <a:solidFill>
                  <a:srgbClr val="7C3AED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subscribePerformanceLogger()  →  attaches PerformanceLogger to GradeSubject</a:t>
            </a:r>
          </a:p>
          <a:p>
            <a:pPr>
              <a:spcBef>
                <a:spcPts val="0"/>
              </a:spcBef>
            </a:pPr>
            <a:r>
              <a:rPr sz="1100">
                <a:solidFill>
                  <a:srgbClr val="7C3AED"/>
                </a:solidFill>
                <a:latin typeface="Calibri"/>
              </a:rPr>
              <a:t>▸  </a:t>
            </a:r>
            <a:r>
              <a:rPr sz="1200">
                <a:solidFill>
                  <a:srgbClr val="E2E8F0"/>
                </a:solidFill>
                <a:latin typeface="Calibri"/>
              </a:rPr>
              <a:t>checkAndNotify(course)  →  reads course.getGradePoint(); fires notify only if threshold crossed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3258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16736"/>
            <a:ext cx="12188952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8600" y="137160"/>
            <a:ext cx="2377440" cy="4572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828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SOURCE 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91440"/>
            <a:ext cx="9171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ourier New"/>
              </a:rPr>
              <a:t>GradeObserver.cpp</a:t>
            </a:r>
          </a:p>
        </p:txBody>
      </p:sp>
      <p:sp>
        <p:nvSpPr>
          <p:cNvPr id="8" name="Rectangle 7"/>
          <p:cNvSpPr/>
          <p:nvPr/>
        </p:nvSpPr>
        <p:spPr>
          <a:xfrm>
            <a:off x="11548872" y="228600"/>
            <a:ext cx="109728" cy="10972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731752" y="228600"/>
            <a:ext cx="109728" cy="10972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11457432" cy="731520"/>
          </a:xfrm>
          <a:prstGeom prst="rect">
            <a:avLst/>
          </a:prstGeom>
          <a:solidFill>
            <a:srgbClr val="1C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5361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  <a:latin typeface="Calibri"/>
              </a:rPr>
              <a:t>Implements: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536192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All Observer pattern classes. GradeSubject owns its observer pointers and frees them in destructor. GradeChangeNotifier is a second Singleton that wraps a GradeSubject and wires observers to it at startup.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31720"/>
            <a:ext cx="11457432" cy="16235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2331720"/>
            <a:ext cx="73152" cy="162356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4048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Courier New"/>
              </a:rPr>
              <a:t>AlertNotification::update()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788920"/>
            <a:ext cx="11091672" cy="1120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F97316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Receives courseName, gpa, category from the subject notification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F97316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if (gpa &lt; 2.0)  →  prints WARNING banner with advice to visit instructor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F97316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if (gpa &gt;= 3.7) →  prints Congratulations banner with encouragement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F97316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No output if gpa is between 2.0 and 3.7 (normal range, no alert needed)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028440"/>
            <a:ext cx="11457432" cy="13822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" y="4028440"/>
            <a:ext cx="73152" cy="138226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410159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C4899"/>
                </a:solidFill>
                <a:latin typeface="Courier New"/>
              </a:rPr>
              <a:t>PerformanceLogger::update()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485640"/>
            <a:ext cx="11091672" cy="879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EC4899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Always prints a [LOG] entry regardless of grade level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C4899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Records: observer name, course name, GPA value, category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C4899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Provides a passive audit trail of every grade update in a session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483860"/>
            <a:ext cx="11457432" cy="16235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5483860"/>
            <a:ext cx="73152" cy="16235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555701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ourier New"/>
              </a:rPr>
              <a:t>GradeSubject (Subject implementation)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941060"/>
            <a:ext cx="11091672" cy="1120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dirty="0">
                <a:solidFill>
                  <a:srgbClr val="10B981"/>
                </a:solidFill>
                <a:latin typeface="Calibri"/>
              </a:rPr>
              <a:t>▸  </a:t>
            </a:r>
            <a:r>
              <a:rPr sz="1300" dirty="0">
                <a:solidFill>
                  <a:srgbClr val="E2E8F0"/>
                </a:solidFill>
                <a:latin typeface="Calibri"/>
              </a:rPr>
              <a:t>attach(observer)  →  </a:t>
            </a:r>
            <a:r>
              <a:rPr sz="1300" dirty="0" err="1">
                <a:solidFill>
                  <a:srgbClr val="E2E8F0"/>
                </a:solidFill>
                <a:latin typeface="Calibri"/>
              </a:rPr>
              <a:t>push_back</a:t>
            </a:r>
            <a:r>
              <a:rPr sz="1300" dirty="0">
                <a:solidFill>
                  <a:srgbClr val="E2E8F0"/>
                </a:solidFill>
                <a:latin typeface="Calibri"/>
              </a:rPr>
              <a:t> to observers vector if not </a:t>
            </a:r>
            <a:r>
              <a:rPr sz="1300" dirty="0" err="1">
                <a:solidFill>
                  <a:srgbClr val="E2E8F0"/>
                </a:solidFill>
                <a:latin typeface="Calibri"/>
              </a:rPr>
              <a:t>nullptr</a:t>
            </a:r>
            <a:endParaRPr sz="1300" dirty="0">
              <a:solidFill>
                <a:srgbClr val="E2E8F0"/>
              </a:solidFill>
              <a:latin typeface="Calibri"/>
            </a:endParaRP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10B981"/>
                </a:solidFill>
                <a:latin typeface="Calibri"/>
              </a:rPr>
              <a:t>▸  </a:t>
            </a:r>
            <a:r>
              <a:rPr sz="1300" dirty="0">
                <a:solidFill>
                  <a:srgbClr val="E2E8F0"/>
                </a:solidFill>
                <a:latin typeface="Calibri"/>
              </a:rPr>
              <a:t>detach(observer)  →  linear search, erase from vector, delete the pointer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10B981"/>
                </a:solidFill>
                <a:latin typeface="Calibri"/>
              </a:rPr>
              <a:t>▸  </a:t>
            </a:r>
            <a:r>
              <a:rPr sz="1300" dirty="0">
                <a:solidFill>
                  <a:srgbClr val="E2E8F0"/>
                </a:solidFill>
                <a:latin typeface="Calibri"/>
              </a:rPr>
              <a:t>~</a:t>
            </a:r>
            <a:r>
              <a:rPr sz="1300" dirty="0" err="1">
                <a:solidFill>
                  <a:srgbClr val="E2E8F0"/>
                </a:solidFill>
                <a:latin typeface="Calibri"/>
              </a:rPr>
              <a:t>GradeSubject</a:t>
            </a:r>
            <a:r>
              <a:rPr sz="1300" dirty="0">
                <a:solidFill>
                  <a:srgbClr val="E2E8F0"/>
                </a:solidFill>
                <a:latin typeface="Calibri"/>
              </a:rPr>
              <a:t>()   →  iterates observers, deletes each to prevent leaks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10B981"/>
                </a:solidFill>
                <a:latin typeface="Calibri"/>
              </a:rPr>
              <a:t>▸  </a:t>
            </a:r>
            <a:r>
              <a:rPr sz="1300" dirty="0">
                <a:solidFill>
                  <a:srgbClr val="E2E8F0"/>
                </a:solidFill>
                <a:latin typeface="Calibri"/>
              </a:rPr>
              <a:t>notify(...)       →  calls update() on EVERY observer in the list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7180580"/>
            <a:ext cx="11457432" cy="18648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" y="7180580"/>
            <a:ext cx="73152" cy="18648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72537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ourier New"/>
              </a:rPr>
              <a:t>GradeChangeNotifier Singleton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7637780"/>
            <a:ext cx="11091672" cy="1361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7C3AED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static instance starts nullptr; getInstance() creates on first call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7C3AED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subscribeLowGradeAlert()  →  new AlertNotification, attaches to subject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7C3AED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subscribePerformanceLogger()  →  new PerformanceLogger, attaches to subject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7C3AED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checkAndNotify(course)  →  threshold check: fires only for low (&lt;2.0) or high (≥3.7) GPA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7C3AED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notifyGradeUpdate()  →  passes message through to subject.notify()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3258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26568"/>
            <a:ext cx="12188952" cy="381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8600" y="137160"/>
            <a:ext cx="2377440" cy="457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828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HEADER 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91440"/>
            <a:ext cx="9171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ourier New"/>
              </a:rPr>
              <a:t>FileManager.h</a:t>
            </a:r>
          </a:p>
        </p:txBody>
      </p:sp>
      <p:sp>
        <p:nvSpPr>
          <p:cNvPr id="8" name="Rectangle 7"/>
          <p:cNvSpPr/>
          <p:nvPr/>
        </p:nvSpPr>
        <p:spPr>
          <a:xfrm>
            <a:off x="11548872" y="228600"/>
            <a:ext cx="109728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731752" y="228600"/>
            <a:ext cx="109728" cy="10972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11457432" cy="777240"/>
          </a:xfrm>
          <a:prstGeom prst="rect">
            <a:avLst/>
          </a:prstGeom>
          <a:solidFill>
            <a:srgbClr val="1C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5361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  <a:latin typeface="Calibri"/>
              </a:rPr>
              <a:t>Purpose: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536192"/>
            <a:ext cx="98115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Declares the FileManager class — the entire Data Access Layer. Responsible for serialising Student objects to/from a pipe-delimited CSV file, creating backups, and managing the data directory.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77440"/>
            <a:ext cx="5212080" cy="4251960"/>
          </a:xfrm>
          <a:prstGeom prst="rect">
            <a:avLst/>
          </a:prstGeom>
          <a:solidFill>
            <a:srgbClr val="161B22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2377440"/>
            <a:ext cx="64008" cy="42519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4688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  <a:latin typeface="Calibri"/>
              </a:rPr>
              <a:t>Public Interface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88036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1" dirty="0">
                <a:solidFill>
                  <a:srgbClr val="F97316"/>
                </a:solidFill>
                <a:latin typeface="Courier New"/>
              </a:rPr>
              <a:t>  </a:t>
            </a:r>
            <a:r>
              <a:rPr sz="1200" b="1" dirty="0" err="1">
                <a:solidFill>
                  <a:srgbClr val="F97316"/>
                </a:solidFill>
                <a:latin typeface="Courier New"/>
              </a:rPr>
              <a:t>FileManager</a:t>
            </a:r>
            <a:r>
              <a:rPr sz="1200" b="1" dirty="0">
                <a:solidFill>
                  <a:srgbClr val="F97316"/>
                </a:solidFill>
                <a:latin typeface="Courier New"/>
              </a:rPr>
              <a:t>(path)  </a:t>
            </a:r>
            <a:r>
              <a:rPr sz="1100" dirty="0">
                <a:solidFill>
                  <a:srgbClr val="8B949E"/>
                </a:solidFill>
                <a:latin typeface="Calibri"/>
              </a:rPr>
              <a:t>—  Constructor; auto-creates data/ directory</a:t>
            </a:r>
          </a:p>
          <a:p>
            <a:pPr>
              <a:spcBef>
                <a:spcPts val="400"/>
              </a:spcBef>
            </a:pPr>
            <a:r>
              <a:rPr sz="1200" b="1" dirty="0">
                <a:solidFill>
                  <a:srgbClr val="F97316"/>
                </a:solidFill>
                <a:latin typeface="Courier New"/>
              </a:rPr>
              <a:t>  </a:t>
            </a:r>
            <a:r>
              <a:rPr sz="1200" b="1" dirty="0" err="1">
                <a:solidFill>
                  <a:srgbClr val="F97316"/>
                </a:solidFill>
                <a:latin typeface="Courier New"/>
              </a:rPr>
              <a:t>saveStudents</a:t>
            </a:r>
            <a:r>
              <a:rPr sz="1200" b="1" dirty="0">
                <a:solidFill>
                  <a:srgbClr val="F97316"/>
                </a:solidFill>
                <a:latin typeface="Courier New"/>
              </a:rPr>
              <a:t>(vector)  </a:t>
            </a:r>
            <a:r>
              <a:rPr sz="1100" dirty="0">
                <a:solidFill>
                  <a:srgbClr val="8B949E"/>
                </a:solidFill>
                <a:latin typeface="Calibri"/>
              </a:rPr>
              <a:t>—  Overwrites file with all students</a:t>
            </a:r>
          </a:p>
          <a:p>
            <a:pPr>
              <a:spcBef>
                <a:spcPts val="400"/>
              </a:spcBef>
            </a:pPr>
            <a:r>
              <a:rPr sz="1200" b="1" dirty="0">
                <a:solidFill>
                  <a:srgbClr val="F97316"/>
                </a:solidFill>
                <a:latin typeface="Courier New"/>
              </a:rPr>
              <a:t>  </a:t>
            </a:r>
            <a:r>
              <a:rPr sz="1200" b="1" dirty="0" err="1">
                <a:solidFill>
                  <a:srgbClr val="F97316"/>
                </a:solidFill>
                <a:latin typeface="Courier New"/>
              </a:rPr>
              <a:t>loadStudents</a:t>
            </a:r>
            <a:r>
              <a:rPr sz="1200" b="1" dirty="0">
                <a:solidFill>
                  <a:srgbClr val="F97316"/>
                </a:solidFill>
                <a:latin typeface="Courier New"/>
              </a:rPr>
              <a:t>()  </a:t>
            </a:r>
            <a:r>
              <a:rPr sz="1100" dirty="0">
                <a:solidFill>
                  <a:srgbClr val="8B949E"/>
                </a:solidFill>
                <a:latin typeface="Calibri"/>
              </a:rPr>
              <a:t>—  Returns vector&lt;Student&gt; from file</a:t>
            </a:r>
          </a:p>
          <a:p>
            <a:pPr>
              <a:spcBef>
                <a:spcPts val="400"/>
              </a:spcBef>
            </a:pPr>
            <a:r>
              <a:rPr sz="1200" b="1" dirty="0">
                <a:solidFill>
                  <a:srgbClr val="F97316"/>
                </a:solidFill>
                <a:latin typeface="Courier New"/>
              </a:rPr>
              <a:t>  </a:t>
            </a:r>
            <a:r>
              <a:rPr sz="1200" b="1" dirty="0" err="1">
                <a:solidFill>
                  <a:srgbClr val="F97316"/>
                </a:solidFill>
                <a:latin typeface="Courier New"/>
              </a:rPr>
              <a:t>saveStudent</a:t>
            </a:r>
            <a:r>
              <a:rPr sz="1200" b="1" dirty="0">
                <a:solidFill>
                  <a:srgbClr val="F97316"/>
                </a:solidFill>
                <a:latin typeface="Courier New"/>
              </a:rPr>
              <a:t>(s, append)  </a:t>
            </a:r>
            <a:r>
              <a:rPr sz="1100" dirty="0">
                <a:solidFill>
                  <a:srgbClr val="8B949E"/>
                </a:solidFill>
                <a:latin typeface="Calibri"/>
              </a:rPr>
              <a:t>—  Appends or overwrites single student</a:t>
            </a:r>
          </a:p>
          <a:p>
            <a:pPr>
              <a:spcBef>
                <a:spcPts val="400"/>
              </a:spcBef>
            </a:pPr>
            <a:r>
              <a:rPr sz="1200" b="1" dirty="0">
                <a:solidFill>
                  <a:srgbClr val="F97316"/>
                </a:solidFill>
                <a:latin typeface="Courier New"/>
              </a:rPr>
              <a:t>  </a:t>
            </a:r>
            <a:r>
              <a:rPr sz="1200" b="1" dirty="0" err="1">
                <a:solidFill>
                  <a:srgbClr val="F97316"/>
                </a:solidFill>
                <a:latin typeface="Courier New"/>
              </a:rPr>
              <a:t>deleteStudentRecord</a:t>
            </a:r>
            <a:r>
              <a:rPr sz="1200" b="1" dirty="0">
                <a:solidFill>
                  <a:srgbClr val="F97316"/>
                </a:solidFill>
                <a:latin typeface="Courier New"/>
              </a:rPr>
              <a:t>(roll)  </a:t>
            </a:r>
            <a:r>
              <a:rPr sz="1100" dirty="0">
                <a:solidFill>
                  <a:srgbClr val="8B949E"/>
                </a:solidFill>
                <a:latin typeface="Calibri"/>
              </a:rPr>
              <a:t>—  Load-filter-save to remove one record</a:t>
            </a:r>
          </a:p>
          <a:p>
            <a:pPr>
              <a:spcBef>
                <a:spcPts val="400"/>
              </a:spcBef>
            </a:pPr>
            <a:r>
              <a:rPr sz="1200" b="1" dirty="0">
                <a:solidFill>
                  <a:srgbClr val="F97316"/>
                </a:solidFill>
                <a:latin typeface="Courier New"/>
              </a:rPr>
              <a:t>  </a:t>
            </a:r>
            <a:r>
              <a:rPr sz="1200" b="1" dirty="0" err="1">
                <a:solidFill>
                  <a:srgbClr val="F97316"/>
                </a:solidFill>
                <a:latin typeface="Courier New"/>
              </a:rPr>
              <a:t>fileExists</a:t>
            </a:r>
            <a:r>
              <a:rPr sz="1200" b="1" dirty="0">
                <a:solidFill>
                  <a:srgbClr val="F97316"/>
                </a:solidFill>
                <a:latin typeface="Courier New"/>
              </a:rPr>
              <a:t>()  </a:t>
            </a:r>
            <a:r>
              <a:rPr sz="1100" dirty="0">
                <a:solidFill>
                  <a:srgbClr val="8B949E"/>
                </a:solidFill>
                <a:latin typeface="Calibri"/>
              </a:rPr>
              <a:t>—  Checks if CSV path is accessible</a:t>
            </a:r>
          </a:p>
          <a:p>
            <a:pPr>
              <a:spcBef>
                <a:spcPts val="400"/>
              </a:spcBef>
            </a:pPr>
            <a:r>
              <a:rPr sz="1200" b="1" dirty="0">
                <a:solidFill>
                  <a:srgbClr val="F97316"/>
                </a:solidFill>
                <a:latin typeface="Courier New"/>
              </a:rPr>
              <a:t>  </a:t>
            </a:r>
            <a:r>
              <a:rPr sz="1200" b="1" dirty="0" err="1">
                <a:solidFill>
                  <a:srgbClr val="F97316"/>
                </a:solidFill>
                <a:latin typeface="Courier New"/>
              </a:rPr>
              <a:t>createBackup</a:t>
            </a:r>
            <a:r>
              <a:rPr sz="1200" b="1" dirty="0">
                <a:solidFill>
                  <a:srgbClr val="F97316"/>
                </a:solidFill>
                <a:latin typeface="Courier New"/>
              </a:rPr>
              <a:t>()  </a:t>
            </a:r>
            <a:r>
              <a:rPr sz="1100" dirty="0">
                <a:solidFill>
                  <a:srgbClr val="8B949E"/>
                </a:solidFill>
                <a:latin typeface="Calibri"/>
              </a:rPr>
              <a:t>—  Copies file to </a:t>
            </a:r>
            <a:r>
              <a:rPr sz="1100" dirty="0" err="1">
                <a:solidFill>
                  <a:srgbClr val="8B949E"/>
                </a:solidFill>
                <a:latin typeface="Calibri"/>
              </a:rPr>
              <a:t>file.backup</a:t>
            </a:r>
            <a:endParaRPr sz="1100" dirty="0">
              <a:solidFill>
                <a:srgbClr val="8B949E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1200" b="1" dirty="0">
                <a:solidFill>
                  <a:srgbClr val="F97316"/>
                </a:solidFill>
                <a:latin typeface="Courier New"/>
              </a:rPr>
              <a:t>  </a:t>
            </a:r>
            <a:r>
              <a:rPr sz="1200" b="1" dirty="0" err="1">
                <a:solidFill>
                  <a:srgbClr val="F97316"/>
                </a:solidFill>
                <a:latin typeface="Courier New"/>
              </a:rPr>
              <a:t>restoreFromBackup</a:t>
            </a:r>
            <a:r>
              <a:rPr sz="1200" b="1" dirty="0">
                <a:solidFill>
                  <a:srgbClr val="F97316"/>
                </a:solidFill>
                <a:latin typeface="Courier New"/>
              </a:rPr>
              <a:t>()  </a:t>
            </a:r>
            <a:r>
              <a:rPr sz="1100" dirty="0">
                <a:solidFill>
                  <a:srgbClr val="8B949E"/>
                </a:solidFill>
                <a:latin typeface="Calibri"/>
              </a:rPr>
              <a:t>—  Copies backup back to main file</a:t>
            </a:r>
          </a:p>
          <a:p>
            <a:pPr>
              <a:spcBef>
                <a:spcPts val="400"/>
              </a:spcBef>
            </a:pPr>
            <a:r>
              <a:rPr sz="1200" b="1" dirty="0">
                <a:solidFill>
                  <a:srgbClr val="F97316"/>
                </a:solidFill>
                <a:latin typeface="Courier New"/>
              </a:rPr>
              <a:t>  </a:t>
            </a:r>
            <a:r>
              <a:rPr sz="1200" b="1" dirty="0" err="1">
                <a:solidFill>
                  <a:srgbClr val="F97316"/>
                </a:solidFill>
                <a:latin typeface="Courier New"/>
              </a:rPr>
              <a:t>clearData</a:t>
            </a:r>
            <a:r>
              <a:rPr sz="1200" b="1" dirty="0">
                <a:solidFill>
                  <a:srgbClr val="F97316"/>
                </a:solidFill>
                <a:latin typeface="Courier New"/>
              </a:rPr>
              <a:t>()  </a:t>
            </a:r>
            <a:r>
              <a:rPr sz="1100" dirty="0">
                <a:solidFill>
                  <a:srgbClr val="8B949E"/>
                </a:solidFill>
                <a:latin typeface="Calibri"/>
              </a:rPr>
              <a:t>—  Truncates file to empty</a:t>
            </a:r>
          </a:p>
          <a:p>
            <a:pPr>
              <a:spcBef>
                <a:spcPts val="400"/>
              </a:spcBef>
            </a:pPr>
            <a:r>
              <a:rPr sz="1200" b="1" dirty="0">
                <a:solidFill>
                  <a:srgbClr val="F97316"/>
                </a:solidFill>
                <a:latin typeface="Courier New"/>
              </a:rPr>
              <a:t>  </a:t>
            </a:r>
            <a:r>
              <a:rPr sz="1200" b="1" dirty="0" err="1">
                <a:solidFill>
                  <a:srgbClr val="F97316"/>
                </a:solidFill>
                <a:latin typeface="Courier New"/>
              </a:rPr>
              <a:t>getRecordCount</a:t>
            </a:r>
            <a:r>
              <a:rPr sz="1200" b="1" dirty="0">
                <a:solidFill>
                  <a:srgbClr val="F97316"/>
                </a:solidFill>
                <a:latin typeface="Courier New"/>
              </a:rPr>
              <a:t>()  </a:t>
            </a:r>
            <a:r>
              <a:rPr sz="1100" dirty="0">
                <a:solidFill>
                  <a:srgbClr val="8B949E"/>
                </a:solidFill>
                <a:latin typeface="Calibri"/>
              </a:rPr>
              <a:t>—  Counts non-empty lines in file</a:t>
            </a:r>
          </a:p>
          <a:p>
            <a:pPr>
              <a:spcBef>
                <a:spcPts val="400"/>
              </a:spcBef>
            </a:pPr>
            <a:r>
              <a:rPr sz="1200" b="1" dirty="0">
                <a:solidFill>
                  <a:srgbClr val="F97316"/>
                </a:solidFill>
                <a:latin typeface="Courier New"/>
              </a:rPr>
              <a:t>  </a:t>
            </a:r>
            <a:r>
              <a:rPr sz="1200" b="1" dirty="0" err="1">
                <a:solidFill>
                  <a:srgbClr val="F97316"/>
                </a:solidFill>
                <a:latin typeface="Courier New"/>
              </a:rPr>
              <a:t>displayFileInfo</a:t>
            </a:r>
            <a:r>
              <a:rPr sz="1200" b="1" dirty="0">
                <a:solidFill>
                  <a:srgbClr val="F97316"/>
                </a:solidFill>
                <a:latin typeface="Courier New"/>
              </a:rPr>
              <a:t>()  </a:t>
            </a:r>
            <a:r>
              <a:rPr sz="1100" dirty="0">
                <a:solidFill>
                  <a:srgbClr val="8B949E"/>
                </a:solidFill>
                <a:latin typeface="Calibri"/>
              </a:rPr>
              <a:t>—  Prints path, existence, record count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2377440"/>
            <a:ext cx="5879592" cy="4251960"/>
          </a:xfrm>
          <a:prstGeom prst="rect">
            <a:avLst/>
          </a:prstGeom>
          <a:solidFill>
            <a:srgbClr val="161B22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0" y="2377440"/>
            <a:ext cx="64008" cy="42519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26480" y="24688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Calibri"/>
              </a:rPr>
              <a:t>Private Helpers (Serialisation)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880360"/>
            <a:ext cx="5577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300" b="1">
                <a:solidFill>
                  <a:srgbClr val="22D3EE"/>
                </a:solidFill>
                <a:latin typeface="Courier New"/>
              </a:rPr>
              <a:t>  studentToCSV(student)  </a:t>
            </a:r>
            <a:r>
              <a:rPr sz="1200">
                <a:solidFill>
                  <a:srgbClr val="8B949E"/>
                </a:solidFill>
                <a:latin typeface="Calibri"/>
              </a:rPr>
              <a:t>—  Converts Student → pipe-delimited string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22D3EE"/>
                </a:solidFill>
                <a:latin typeface="Courier New"/>
              </a:rPr>
              <a:t>  csvToStudent(line)  </a:t>
            </a:r>
            <a:r>
              <a:rPr sz="1200">
                <a:solidFill>
                  <a:srgbClr val="8B949E"/>
                </a:solidFill>
                <a:latin typeface="Calibri"/>
              </a:rPr>
              <a:t>—  Parses pipe-delimited string → Student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22D3EE"/>
                </a:solidFill>
                <a:latin typeface="Courier New"/>
              </a:rPr>
              <a:t>  directoryExists(path)  </a:t>
            </a:r>
            <a:r>
              <a:rPr sz="1200">
                <a:solidFill>
                  <a:srgbClr val="8B949E"/>
                </a:solidFill>
                <a:latin typeface="Calibri"/>
              </a:rPr>
              <a:t>—  Uses std::filesystem::exists + is_directory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22D3EE"/>
                </a:solidFill>
                <a:latin typeface="Courier New"/>
              </a:rPr>
              <a:t>  createDirectory(path)  </a:t>
            </a:r>
            <a:r>
              <a:rPr sz="1200">
                <a:solidFill>
                  <a:srgbClr val="8B949E"/>
                </a:solidFill>
                <a:latin typeface="Calibri"/>
              </a:rPr>
              <a:t>—  Uses std::filesystem::create_directory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4846320"/>
            <a:ext cx="5879592" cy="1783080"/>
          </a:xfrm>
          <a:prstGeom prst="rect">
            <a:avLst/>
          </a:prstGeom>
          <a:solidFill>
            <a:srgbClr val="1C2433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0" y="49194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949E"/>
                </a:solidFill>
                <a:latin typeface="Calibri"/>
              </a:rPr>
              <a:t>CSV Record Format: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5285232"/>
            <a:ext cx="5577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ourier New"/>
              </a:rPr>
              <a:t>rollNo|name|email|sem|cgpa|credits|count|code:name:credits:a:m:f:p;code:...
Course fields separated by ":" — multiple courses separated by ";"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3258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16736"/>
            <a:ext cx="12188952" cy="381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8600" y="137160"/>
            <a:ext cx="2377440" cy="457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828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SOURCE 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91440"/>
            <a:ext cx="9171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ourier New"/>
              </a:rPr>
              <a:t>FileManager.cpp</a:t>
            </a:r>
          </a:p>
        </p:txBody>
      </p:sp>
      <p:sp>
        <p:nvSpPr>
          <p:cNvPr id="8" name="Rectangle 7"/>
          <p:cNvSpPr/>
          <p:nvPr/>
        </p:nvSpPr>
        <p:spPr>
          <a:xfrm>
            <a:off x="11548872" y="228600"/>
            <a:ext cx="109728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731752" y="228600"/>
            <a:ext cx="109728" cy="10972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11457432" cy="731520"/>
          </a:xfrm>
          <a:prstGeom prst="rect">
            <a:avLst/>
          </a:prstGeom>
          <a:solidFill>
            <a:srgbClr val="1C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5361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  <a:latin typeface="Calibri"/>
              </a:rPr>
              <a:t>Implements: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536192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All persistence logic. Uses &lt;fstream&gt; for I/O, &lt;sstream&gt; for parsing, &lt;filesystem&gt; (C++17) for directory and backup operations, and &lt;algorithm&gt; for remove_if when deleting records.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31720"/>
            <a:ext cx="11457432" cy="13822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2331720"/>
            <a:ext cx="73152" cy="138226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4048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Courier New"/>
              </a:rPr>
              <a:t>saveStudents() / loadStudents()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788920"/>
            <a:ext cx="11091672" cy="879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F97316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saveStudents()  →  ofstream(filePath); iterates vector, writes studentToCSV() per student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F97316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loadStudents()  →  ifstream; getline loop; each non-empty line → csvToStudent(); returns vector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F97316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saveStudent()   →  single student append (ios::app) or overwrite (ios::out) based on flag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787140"/>
            <a:ext cx="11457432" cy="13822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" y="3787140"/>
            <a:ext cx="73152" cy="138226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386029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Courier New"/>
              </a:rPr>
              <a:t>deleteStudentRecord(rollNo)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244340"/>
            <a:ext cx="11091672" cy="879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22D3EE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Loads all students into memory vector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2D3EE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std::remove_if with lambda: [&amp;](Student&amp; s){ return s.getRollNo()==rollNo; }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2D3EE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Erases the removed range, then calls saveStudents() to persist the filtered list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242560"/>
            <a:ext cx="11457432" cy="13822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5242560"/>
            <a:ext cx="73152" cy="13822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531571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ourier New"/>
              </a:rPr>
              <a:t>Backup &amp; Restore (std::filesystem)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699760"/>
            <a:ext cx="11091672" cy="879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createBackup()  →  fs::copy(filePath, filePath+".backup", overwrite_existing)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restoreFromBackup()  →  fs::copy(backup, filePath, overwrite_existing)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Both wrapped in try/catch; prints error message if filesystem operation fails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6697980"/>
            <a:ext cx="11457432" cy="13822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" y="6697980"/>
            <a:ext cx="73152" cy="13822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67711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ourier New"/>
              </a:rPr>
              <a:t>studentToCSV() Serialisation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7155180"/>
            <a:ext cx="11091672" cy="879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7C3AED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Uses stringstream to build: rollNo|name|email|sem|cgpa|credits|count|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7C3AED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Appends each course: code:name:credits:assignment:midterm:final:project;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7C3AED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Ends with newline — each student record is exactly one line in the CSV file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8153400"/>
            <a:ext cx="11457432" cy="18648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65760" y="8153400"/>
            <a:ext cx="73152" cy="18648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822655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Courier New"/>
              </a:rPr>
              <a:t>csvToStudent() Deserialisation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8610600"/>
            <a:ext cx="11091672" cy="1361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FBBF24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Primary parse: getline(ss, field, "|") for the 7 student header fields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FBBF24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std::stoi / std::stof for numeric conversion (semester, cgpa, credits)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FBBF24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Secondary parse: getline(coursesSS, courseData, ";") splits each course block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FBBF24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Tertiary parse: getline(courseSS, field, ":") splits the 7 course sub-fields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FBBF24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Reconstructs Course object, calls setters, then student.addCourse()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3258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16736"/>
            <a:ext cx="12188952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8600" y="137160"/>
            <a:ext cx="2377440" cy="457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828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SOURCE FILE  (Entry Point)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91440"/>
            <a:ext cx="9171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ourier New"/>
              </a:rPr>
              <a:t>main.cpp</a:t>
            </a:r>
          </a:p>
        </p:txBody>
      </p:sp>
      <p:sp>
        <p:nvSpPr>
          <p:cNvPr id="8" name="Rectangle 7"/>
          <p:cNvSpPr/>
          <p:nvPr/>
        </p:nvSpPr>
        <p:spPr>
          <a:xfrm>
            <a:off x="11548872" y="228600"/>
            <a:ext cx="109728" cy="10972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731752" y="228600"/>
            <a:ext cx="109728" cy="10972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11457432" cy="777240"/>
          </a:xfrm>
          <a:prstGeom prst="rect">
            <a:avLst/>
          </a:prstGeom>
          <a:solidFill>
            <a:srgbClr val="1C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5361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Calibri"/>
              </a:rPr>
              <a:t>Purpose: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536192"/>
            <a:ext cx="98115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The Presentation Layer — menu-driven console UI that glues every other class together. Declares two global objects (vector&lt;Student&gt; and FileManager), initialises the Observer system at startup, and drives all user interactions through nested switch-case menus.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77440"/>
            <a:ext cx="11457432" cy="17830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2377440"/>
            <a:ext cx="73152" cy="17830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44144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Calibri"/>
              </a:rPr>
              <a:t>Global State &amp; Startup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816352"/>
            <a:ext cx="11091672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2D3EE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vector&lt;Student&gt; students  —  the in-memory student database (up to 500)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D3EE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FileManager fileManager("data/students.csv")  —  single shared file handle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D3EE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SetConsoleOutputCP(65001)  —  enables UTF-8 (Unicode symbols like ✓ ✗ ⚠)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D3EE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Subscribes AlertNotification + PerformanceLogger via GradeChangeNotifier::getInstance()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D3EE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Loads existing data: students = fileManager.loadStudents()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233672"/>
            <a:ext cx="11457432" cy="17830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" y="4233672"/>
            <a:ext cx="73152" cy="1783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429768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Main Menu (5 top-level options)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672584"/>
            <a:ext cx="11091672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dirty="0">
                <a:solidFill>
                  <a:srgbClr val="7C3AED"/>
                </a:solidFill>
                <a:latin typeface="Calibri"/>
              </a:rPr>
              <a:t>▸  </a:t>
            </a:r>
            <a:r>
              <a:rPr sz="1300" dirty="0">
                <a:solidFill>
                  <a:srgbClr val="E2E8F0"/>
                </a:solidFill>
                <a:latin typeface="Calibri"/>
              </a:rPr>
              <a:t>1. Student Management  →  add / update / delete / list / view details</a:t>
            </a:r>
          </a:p>
          <a:p>
            <a:pPr>
              <a:spcBef>
                <a:spcPts val="400"/>
              </a:spcBef>
            </a:pPr>
            <a:r>
              <a:rPr sz="1200" dirty="0">
                <a:solidFill>
                  <a:srgbClr val="7C3AED"/>
                </a:solidFill>
                <a:latin typeface="Calibri"/>
              </a:rPr>
              <a:t>▸  </a:t>
            </a:r>
            <a:r>
              <a:rPr sz="1300" dirty="0">
                <a:solidFill>
                  <a:srgbClr val="E2E8F0"/>
                </a:solidFill>
                <a:latin typeface="Calibri"/>
              </a:rPr>
              <a:t>2. Course Management   →  </a:t>
            </a:r>
            <a:r>
              <a:rPr sz="1300" dirty="0" err="1">
                <a:solidFill>
                  <a:srgbClr val="E2E8F0"/>
                </a:solidFill>
                <a:latin typeface="Calibri"/>
              </a:rPr>
              <a:t>enrol</a:t>
            </a:r>
            <a:r>
              <a:rPr sz="1300" dirty="0">
                <a:solidFill>
                  <a:srgbClr val="E2E8F0"/>
                </a:solidFill>
                <a:latin typeface="Calibri"/>
              </a:rPr>
              <a:t> course / enter marks / remove / view courses</a:t>
            </a:r>
          </a:p>
          <a:p>
            <a:pPr>
              <a:spcBef>
                <a:spcPts val="400"/>
              </a:spcBef>
            </a:pPr>
            <a:r>
              <a:rPr sz="1200" dirty="0">
                <a:solidFill>
                  <a:srgbClr val="7C3AED"/>
                </a:solidFill>
                <a:latin typeface="Calibri"/>
              </a:rPr>
              <a:t>▸  </a:t>
            </a:r>
            <a:r>
              <a:rPr sz="1300" dirty="0">
                <a:solidFill>
                  <a:srgbClr val="E2E8F0"/>
                </a:solidFill>
                <a:latin typeface="Calibri"/>
              </a:rPr>
              <a:t>3. Report Generation   →  select student → select report type or generate all</a:t>
            </a:r>
          </a:p>
          <a:p>
            <a:pPr>
              <a:spcBef>
                <a:spcPts val="400"/>
              </a:spcBef>
            </a:pPr>
            <a:r>
              <a:rPr sz="1200" dirty="0">
                <a:solidFill>
                  <a:srgbClr val="7C3AED"/>
                </a:solidFill>
                <a:latin typeface="Calibri"/>
              </a:rPr>
              <a:t>▸  </a:t>
            </a:r>
            <a:r>
              <a:rPr sz="1300" dirty="0">
                <a:solidFill>
                  <a:srgbClr val="E2E8F0"/>
                </a:solidFill>
                <a:latin typeface="Calibri"/>
              </a:rPr>
              <a:t>4. Settings            →  change grading strategy / view grading table / file info</a:t>
            </a:r>
          </a:p>
          <a:p>
            <a:pPr>
              <a:spcBef>
                <a:spcPts val="400"/>
              </a:spcBef>
            </a:pPr>
            <a:r>
              <a:rPr sz="1200" dirty="0">
                <a:solidFill>
                  <a:srgbClr val="7C3AED"/>
                </a:solidFill>
                <a:latin typeface="Calibri"/>
              </a:rPr>
              <a:t>▸  </a:t>
            </a:r>
            <a:r>
              <a:rPr sz="1300" dirty="0">
                <a:solidFill>
                  <a:srgbClr val="E2E8F0"/>
                </a:solidFill>
                <a:latin typeface="Calibri"/>
              </a:rPr>
              <a:t>5. UOG CGPA Calculator →  standalone GPA calculator (no student record needed)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6089904"/>
            <a:ext cx="11457432" cy="17830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6089904"/>
            <a:ext cx="73152" cy="1783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615391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Student CRUD Functions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28816"/>
            <a:ext cx="11091672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addStudent()        →  input roll/name/email + optional prev CGPA/credits, push to vector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updateStudent()     →  find by roll number, re-enter fields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deleteStudent()     →  find by roll, erase from vector + fileManager.deleteStudentRecord()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listStudents()      →  tabular view of all students with current CGPA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0B981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viewStudentDetails()→  calls student.displayDetailedReport()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7946136"/>
            <a:ext cx="11457432" cy="1554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" y="7946136"/>
            <a:ext cx="73152" cy="15544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8010144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Calibri"/>
              </a:rPr>
              <a:t>Course &amp; Mark Entry Functions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8385048"/>
            <a:ext cx="1109167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FBBF24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addCourseToStudent()  →  select student → enter code/name/credits → student.addCourse()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BBF24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updateCourseMarks()   →  select student → select course → enter 4 marks → checkAndNotify()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BBF24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removeCourseFromStudent()  →  find course by code, call student.removeCourse(index)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BBF24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viewCoursesOfStudent()     →  calls student.displayAllCourses()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9573768"/>
            <a:ext cx="11457432" cy="1554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65760" y="9573768"/>
            <a:ext cx="73152" cy="15544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9637776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C4899"/>
                </a:solidFill>
                <a:latin typeface="Calibri"/>
              </a:rPr>
              <a:t>UOG CGPA Calculator (uogCGPACalculator)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10012680"/>
            <a:ext cx="1109167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EC4899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Prompts for previous CGPA + completed credits (skippable for 1st semester)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C4899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Prompts for number of courses this semester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C4899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For each course: letter grade entered → auto-converted to GPA point via GradeCalculator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C4899"/>
                </a:solidFill>
                <a:latin typeface="Calibri"/>
              </a:rPr>
              <a:t>▸  </a:t>
            </a:r>
            <a:r>
              <a:rPr sz="1300">
                <a:solidFill>
                  <a:srgbClr val="E2E8F0"/>
                </a:solidFill>
                <a:latin typeface="Calibri"/>
              </a:rPr>
              <a:t>Shows per-course contribution, summary table, Semester GPA, and Updated CGPA instantly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57200" y="-457200"/>
            <a:ext cx="4572000" cy="457200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0" y="3657600"/>
            <a:ext cx="4114800" cy="4114800"/>
          </a:xfrm>
          <a:prstGeom prst="rect">
            <a:avLst/>
          </a:prstGeom>
          <a:solidFill>
            <a:srgbClr val="0D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00" y="1371600"/>
            <a:ext cx="8531352" cy="4389120"/>
          </a:xfrm>
          <a:prstGeom prst="rect">
            <a:avLst/>
          </a:prstGeom>
          <a:solidFill>
            <a:srgbClr val="161B22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28800" y="1371600"/>
            <a:ext cx="91440" cy="4389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0" y="1828800"/>
            <a:ext cx="7589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3383280"/>
            <a:ext cx="4873752" cy="25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86000" y="356616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2D3EE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5999" y="4206240"/>
            <a:ext cx="7870723" cy="818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25"/>
              </a:lnSpc>
              <a:buNone/>
            </a:pPr>
            <a:r>
              <a:rPr lang="en-US" sz="1600" b="1" i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Student Grade Calculator</a:t>
            </a:r>
          </a:p>
          <a:p>
            <a:pPr algn="ctr">
              <a:lnSpc>
                <a:spcPts val="1425"/>
              </a:lnSpc>
              <a:buNone/>
            </a:pPr>
            <a:r>
              <a:rPr lang="en-US" sz="1600" b="1" i="1" dirty="0">
                <a:solidFill>
                  <a:srgbClr val="79C0FF"/>
                </a:solidFill>
                <a:latin typeface="Consolas" panose="020B0609020204030204" pitchFamily="49" charset="0"/>
              </a:rPr>
              <a:t>Author: [Syed </a:t>
            </a:r>
            <a:r>
              <a:rPr lang="en-US" sz="1600" b="1" i="1" dirty="0" err="1">
                <a:solidFill>
                  <a:srgbClr val="79C0FF"/>
                </a:solidFill>
                <a:latin typeface="Consolas" panose="020B0609020204030204" pitchFamily="49" charset="0"/>
              </a:rPr>
              <a:t>Nokhaiz</a:t>
            </a:r>
            <a:r>
              <a:rPr lang="en-US" sz="1600" b="1" i="1" dirty="0">
                <a:solidFill>
                  <a:srgbClr val="79C0FF"/>
                </a:solidFill>
                <a:latin typeface="Consolas" panose="020B0609020204030204" pitchFamily="49" charset="0"/>
              </a:rPr>
              <a:t> Al Hassan]</a:t>
            </a:r>
            <a:br>
              <a:rPr lang="en-US" sz="1600" b="1" i="1" dirty="0">
                <a:solidFill>
                  <a:srgbClr val="79C0FF"/>
                </a:solidFill>
                <a:latin typeface="Consolas" panose="020B0609020204030204" pitchFamily="49" charset="0"/>
              </a:rPr>
            </a:br>
            <a:r>
              <a:rPr lang="en-US" sz="1600" b="1" i="1" dirty="0">
                <a:solidFill>
                  <a:srgbClr val="79C0FF"/>
                </a:solidFill>
                <a:latin typeface="Consolas" panose="020B0609020204030204" pitchFamily="49" charset="0"/>
              </a:rPr>
              <a:t>Mobile App Developer</a:t>
            </a:r>
            <a:br>
              <a:rPr lang="en-US" sz="1600" b="1" i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1" i="1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University of Gujrat</a:t>
            </a:r>
            <a:endParaRPr lang="en-US" sz="1600" b="1" i="1" dirty="0">
              <a:solidFill>
                <a:srgbClr val="79C0FF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303520" y="5029200"/>
            <a:ext cx="1581912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0" y="5047488"/>
            <a:ext cx="15819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36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/ </a:t>
            </a:r>
            <a:r>
              <a:rPr lang="en-US" sz="1400" b="1" dirty="0">
                <a:solidFill>
                  <a:srgbClr val="FFFFFF"/>
                </a:solidFill>
                <a:latin typeface="Calibri"/>
              </a:rPr>
              <a:t>36</a:t>
            </a:r>
            <a:endParaRPr sz="1400" b="1" i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5081</Words>
  <Application>Microsoft Office PowerPoint</Application>
  <PresentationFormat>Custom</PresentationFormat>
  <Paragraphs>618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Syed Sabee</cp:lastModifiedBy>
  <cp:revision>7</cp:revision>
  <dcterms:created xsi:type="dcterms:W3CDTF">2013-01-27T09:14:16Z</dcterms:created>
  <dcterms:modified xsi:type="dcterms:W3CDTF">2026-05-13T19:56:42Z</dcterms:modified>
  <cp:category/>
</cp:coreProperties>
</file>